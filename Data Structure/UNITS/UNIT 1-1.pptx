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83" r:id="rId2"/>
    <p:sldId id="292" r:id="rId3"/>
    <p:sldId id="324" r:id="rId4"/>
    <p:sldId id="325" r:id="rId5"/>
    <p:sldId id="326" r:id="rId6"/>
    <p:sldId id="340" r:id="rId7"/>
    <p:sldId id="328" r:id="rId8"/>
    <p:sldId id="329" r:id="rId9"/>
    <p:sldId id="330" r:id="rId10"/>
    <p:sldId id="345" r:id="rId11"/>
    <p:sldId id="331" r:id="rId12"/>
    <p:sldId id="346" r:id="rId13"/>
    <p:sldId id="347" r:id="rId14"/>
    <p:sldId id="348" r:id="rId15"/>
    <p:sldId id="349" r:id="rId16"/>
    <p:sldId id="350" r:id="rId17"/>
    <p:sldId id="335" r:id="rId18"/>
    <p:sldId id="336" r:id="rId19"/>
    <p:sldId id="344" r:id="rId20"/>
  </p:sldIdLst>
  <p:sldSz cx="12192000" cy="6858000"/>
  <p:notesSz cx="6858000" cy="9144000"/>
  <p:embeddedFontLst>
    <p:embeddedFont>
      <p:font typeface="Segoe UI Black" panose="020B0A02040204020203" pitchFamily="34" charset="0"/>
      <p:bold r:id="rId23"/>
      <p:boldItalic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Roboto Light" panose="02000000000000000000" pitchFamily="2" charset="0"/>
      <p:regular r:id="rId33"/>
      <p:italic r:id="rId34"/>
    </p:embeddedFont>
    <p:embeddedFont>
      <p:font typeface="Wingdings 3" panose="05040102010807070707" pitchFamily="18" charset="2"/>
      <p:regular r:id="rId35"/>
    </p:embeddedFont>
    <p:embeddedFont>
      <p:font typeface="Roboto Condensed" panose="02000000000000000000" pitchFamily="2" charset="0"/>
      <p:regular r:id="rId36"/>
      <p:bold r:id="rId37"/>
      <p:italic r:id="rId38"/>
      <p:boldItalic r:id="rId39"/>
    </p:embeddedFont>
    <p:embeddedFont>
      <p:font typeface="Roboto Condensed Light" panose="02000000000000000000" pitchFamily="2" charset="0"/>
      <p:regular r:id="rId40"/>
      <p:italic r:id="rId41"/>
    </p:embeddedFont>
    <p:embeddedFont>
      <p:font typeface="Wingdings 2" panose="05020102010507070707" pitchFamily="18" charset="2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HpVhTS1hSy/tow7kksBfBg==" hashData="Fm/nr/1R6hdKp2IxzcPiajzWOkhvzLTh9LKARyzxJwJXea+zsrDugmdHyhsfq90Yb/AATkef6ewZRYqgh4pu+Q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064"/>
    <a:srgbClr val="F54337"/>
    <a:srgbClr val="ED524F"/>
    <a:srgbClr val="3366FF"/>
    <a:srgbClr val="301B92"/>
    <a:srgbClr val="673BB7"/>
    <a:srgbClr val="607D8B"/>
    <a:srgbClr val="B71B1C"/>
    <a:srgbClr val="D81A60"/>
    <a:srgbClr val="890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05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1944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9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093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0" Type="http://schemas.openxmlformats.org/officeDocument/2006/relationships/image" Target="../media/image14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baseline="0" dirty="0"/>
              <a:t> University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" descr="E:\Clients\Darshan\Data Structure\2018\PPT\images\data-structure.png"/>
          <p:cNvPicPr>
            <a:picLocks noChangeAspect="1" noChangeArrowheads="1"/>
          </p:cNvPicPr>
          <p:nvPr userDrawn="1"/>
        </p:nvPicPr>
        <p:blipFill>
          <a:blip r:embed="rId11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artisticLineDrawing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916" y="2065383"/>
            <a:ext cx="2866958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9678496" y="861192"/>
            <a:ext cx="2554142" cy="587454"/>
            <a:chOff x="9424496" y="861192"/>
            <a:chExt cx="2554142" cy="5874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Maniar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#2305CS201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9780096" y="5890392"/>
            <a:ext cx="2554142" cy="587454"/>
            <a:chOff x="9475296" y="5890392"/>
            <a:chExt cx="2554142" cy="5874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Maniar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#2305CS201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-49704" y="5915792"/>
            <a:ext cx="2554142" cy="587454"/>
            <a:chOff x="242396" y="5890392"/>
            <a:chExt cx="2554142" cy="5874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1180" y="8888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Maniar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#2305CS201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9437224" y="6087939"/>
            <a:ext cx="2554142" cy="650953"/>
            <a:chOff x="9437224" y="6087939"/>
            <a:chExt cx="2554142" cy="65095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8046" y="6151439"/>
              <a:ext cx="1932495" cy="587453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B550E12-AA95-4B1B-A8D2-ED01E515FC43}"/>
                </a:ext>
              </a:extLst>
            </p:cNvPr>
            <p:cNvSpPr/>
            <p:nvPr userDrawn="1"/>
          </p:nvSpPr>
          <p:spPr>
            <a:xfrm>
              <a:off x="9437224" y="6087939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9752158" y="1499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Maniar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#2305CS201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 userDrawn="1"/>
        </p:nvGrpSpPr>
        <p:grpSpPr>
          <a:xfrm>
            <a:off x="9726758" y="6003345"/>
            <a:ext cx="2554142" cy="587454"/>
            <a:chOff x="9475296" y="5890392"/>
            <a:chExt cx="2554142" cy="58745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Maniar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#2305CS201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-249812" y="5990021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Maniar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#2305CS201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 kern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25475" lvl="1" indent="-263525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896938" lvl="2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168400" lvl="3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439863" lvl="4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</a:pPr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</a:t>
            </a:r>
            <a:r>
              <a:rPr lang="da-DK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– 1: </a:t>
            </a:r>
            <a:r>
              <a:rPr lang="en-US" sz="1800" dirty="0"/>
              <a:t>Introduction to Data Structure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</a:t>
            </a:r>
            <a:r>
              <a:rPr lang="en-US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Institute of Engineering &amp; Technology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ktangel 11"/>
          <p:cNvSpPr/>
          <p:nvPr userDrawn="1"/>
        </p:nvSpPr>
        <p:spPr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648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2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60510" cy="2563094"/>
          </a:xfrm>
        </p:spPr>
        <p:txBody>
          <a:bodyPr/>
          <a:lstStyle/>
          <a:p>
            <a:r>
              <a:rPr lang="en-US" sz="44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Unit-1</a:t>
            </a:r>
            <a:r>
              <a:rPr lang="en-US" sz="6000" dirty="0"/>
              <a:t> </a:t>
            </a:r>
            <a:br>
              <a:rPr lang="en-US" sz="6000" dirty="0"/>
            </a:br>
            <a:r>
              <a:rPr lang="en-US" sz="6000" dirty="0"/>
              <a:t>Introduction to </a:t>
            </a:r>
            <a:br>
              <a:rPr lang="en-US" sz="6000" dirty="0"/>
            </a:br>
            <a:r>
              <a:rPr lang="en-US" sz="6000" dirty="0"/>
              <a:t>Data Structure</a:t>
            </a:r>
            <a:br>
              <a:rPr lang="en-US" sz="6000" dirty="0"/>
            </a:br>
            <a:endParaRPr lang="en-US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shruti.maniar@darshan.ac.in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Shruti Maniar</a:t>
            </a:r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DU# 2305CS201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55" y="5211251"/>
            <a:ext cx="1454227" cy="1353599"/>
          </a:xfrm>
        </p:spPr>
      </p:pic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3" y="731706"/>
            <a:ext cx="595036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Data Management concepts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Data types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Primitive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Non-primitive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Types of Data Structures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Linear Data Structures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Non Linear Data Structures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Performance Analysis and Measurement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Time analysis of algorithms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Space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the basic fact or entity that is utilized in calculation or manipulation.</a:t>
            </a:r>
          </a:p>
          <a:p>
            <a:r>
              <a:rPr lang="en-IN" dirty="0"/>
              <a:t>There are two different </a:t>
            </a:r>
            <a:r>
              <a:rPr lang="en-IN" b="1" dirty="0"/>
              <a:t>types of data </a:t>
            </a:r>
            <a:r>
              <a:rPr lang="en-IN" b="1" dirty="0">
                <a:solidFill>
                  <a:srgbClr val="C00000"/>
                </a:solidFill>
              </a:rPr>
              <a:t>Numeric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data </a:t>
            </a:r>
            <a:r>
              <a:rPr lang="en-IN"/>
              <a:t>and </a:t>
            </a:r>
            <a:r>
              <a:rPr lang="en-IN" b="1">
                <a:solidFill>
                  <a:srgbClr val="C00000"/>
                </a:solidFill>
              </a:rPr>
              <a:t>Alphanumeric</a:t>
            </a:r>
            <a:r>
              <a:rPr lang="en-IN"/>
              <a:t> </a:t>
            </a:r>
            <a:r>
              <a:rPr lang="en-IN" dirty="0"/>
              <a:t>data.</a:t>
            </a:r>
            <a:endParaRPr lang="en-US" dirty="0"/>
          </a:p>
          <a:p>
            <a:r>
              <a:rPr lang="en-US" dirty="0"/>
              <a:t>When a programmer collects such type of data for </a:t>
            </a:r>
            <a:r>
              <a:rPr lang="en-US" b="1" dirty="0">
                <a:solidFill>
                  <a:srgbClr val="C00000"/>
                </a:solidFill>
              </a:rPr>
              <a:t>processing</a:t>
            </a:r>
            <a:r>
              <a:rPr lang="en-US" dirty="0"/>
              <a:t>, he would require </a:t>
            </a:r>
            <a:r>
              <a:rPr lang="en-US" b="1" dirty="0">
                <a:solidFill>
                  <a:srgbClr val="C00000"/>
                </a:solidFill>
              </a:rPr>
              <a:t>to store them in computer’s main memory</a:t>
            </a:r>
            <a:r>
              <a:rPr lang="en-US" dirty="0"/>
              <a:t>.</a:t>
            </a:r>
          </a:p>
          <a:p>
            <a:r>
              <a:rPr lang="en-IN" dirty="0"/>
              <a:t>The process of storing data items in computer’s main memory is called </a:t>
            </a:r>
            <a:r>
              <a:rPr lang="en-IN" b="1" i="1" dirty="0">
                <a:solidFill>
                  <a:srgbClr val="C00000"/>
                </a:solidFill>
              </a:rPr>
              <a:t>representation.</a:t>
            </a:r>
            <a:endParaRPr lang="en-IN" dirty="0">
              <a:solidFill>
                <a:srgbClr val="C00000"/>
              </a:solidFill>
            </a:endParaRPr>
          </a:p>
          <a:p>
            <a:r>
              <a:rPr lang="en-IN" b="1" dirty="0">
                <a:solidFill>
                  <a:srgbClr val="C00000"/>
                </a:solidFill>
              </a:rPr>
              <a:t>Data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to be processed must be </a:t>
            </a:r>
            <a:r>
              <a:rPr lang="en-IN" b="1" dirty="0">
                <a:solidFill>
                  <a:srgbClr val="C00000"/>
                </a:solidFill>
              </a:rPr>
              <a:t>organized in a particular fashion</a:t>
            </a:r>
            <a:r>
              <a:rPr lang="en-IN" dirty="0"/>
              <a:t>, these organization leads to structuring of data, and hence the mission to study the Data Structures.</a:t>
            </a:r>
            <a:endParaRPr lang="en-US" dirty="0"/>
          </a:p>
        </p:txBody>
      </p:sp>
      <p:pic>
        <p:nvPicPr>
          <p:cNvPr id="2050" name="Picture 2" descr="E:\Clients\Darshan\Data Structure\2018\PPT\images\data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6315" y="4604657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20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Structure?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i="1" dirty="0">
                <a:solidFill>
                  <a:srgbClr val="C00000"/>
                </a:solidFill>
              </a:rPr>
              <a:t>Data Structure </a:t>
            </a:r>
            <a:r>
              <a:rPr lang="en-US" dirty="0"/>
              <a:t>is a way of storing and organizing data in to computer memory, so that data can be accessed easily and efficiently.</a:t>
            </a:r>
          </a:p>
          <a:p>
            <a:r>
              <a:rPr lang="en-IN" dirty="0"/>
              <a:t>A </a:t>
            </a:r>
            <a:r>
              <a:rPr lang="en-US" b="1" i="1" dirty="0">
                <a:solidFill>
                  <a:srgbClr val="C00000"/>
                </a:solidFill>
              </a:rPr>
              <a:t>Data Structure </a:t>
            </a:r>
            <a:r>
              <a:rPr lang="en-US" dirty="0"/>
              <a:t>is a representation of the logical relationship existing between individual elements of data.</a:t>
            </a:r>
          </a:p>
          <a:p>
            <a:r>
              <a:rPr lang="en-IN" dirty="0"/>
              <a:t>A data structure is a </a:t>
            </a:r>
            <a:r>
              <a:rPr lang="en-IN" b="1" dirty="0">
                <a:solidFill>
                  <a:srgbClr val="C00000"/>
                </a:solidFill>
              </a:rPr>
              <a:t>way of organizing all data items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that </a:t>
            </a:r>
            <a:r>
              <a:rPr lang="en-IN" b="1" dirty="0"/>
              <a:t>considers</a:t>
            </a:r>
            <a:r>
              <a:rPr lang="en-IN" dirty="0"/>
              <a:t> not only the </a:t>
            </a:r>
            <a:r>
              <a:rPr lang="en-IN" b="1" dirty="0"/>
              <a:t>elements stored </a:t>
            </a:r>
            <a:r>
              <a:rPr lang="en-IN" dirty="0"/>
              <a:t>but also their </a:t>
            </a:r>
            <a:r>
              <a:rPr lang="en-IN" b="1" dirty="0"/>
              <a:t>relationship to each other.</a:t>
            </a:r>
          </a:p>
          <a:p>
            <a:r>
              <a:rPr lang="en-IN" dirty="0"/>
              <a:t>Data structure can also be defined as a </a:t>
            </a:r>
            <a:r>
              <a:rPr lang="en-IN" b="1" dirty="0">
                <a:solidFill>
                  <a:srgbClr val="C00000"/>
                </a:solidFill>
              </a:rPr>
              <a:t>mathematical or logical model</a:t>
            </a:r>
            <a:r>
              <a:rPr lang="en-IN" dirty="0"/>
              <a:t> of a particular </a:t>
            </a:r>
            <a:r>
              <a:rPr lang="en-IN" b="1" dirty="0">
                <a:solidFill>
                  <a:srgbClr val="C00000"/>
                </a:solidFill>
              </a:rPr>
              <a:t>organization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of </a:t>
            </a:r>
            <a:r>
              <a:rPr lang="en-IN" b="1" dirty="0">
                <a:solidFill>
                  <a:srgbClr val="C00000"/>
                </a:solidFill>
              </a:rPr>
              <a:t>data items.</a:t>
            </a:r>
          </a:p>
        </p:txBody>
      </p:sp>
      <p:pic>
        <p:nvPicPr>
          <p:cNvPr id="3074" name="Picture 2" descr="E:\Clients\Darshan\Data Structure\2018\PPT\images\data structur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1" y="4074722"/>
            <a:ext cx="2128921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103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Structure? Cont..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b="1" dirty="0"/>
              <a:t>representation</a:t>
            </a:r>
            <a:r>
              <a:rPr lang="en-IN" dirty="0"/>
              <a:t> of a particular data </a:t>
            </a:r>
            <a:r>
              <a:rPr lang="en-IN" b="1" dirty="0"/>
              <a:t>structure in the memory</a:t>
            </a:r>
            <a:r>
              <a:rPr lang="en-IN" dirty="0"/>
              <a:t> of a computer is called </a:t>
            </a:r>
            <a:r>
              <a:rPr lang="en-IN" b="1" i="1" dirty="0">
                <a:solidFill>
                  <a:srgbClr val="C00000"/>
                </a:solidFill>
              </a:rPr>
              <a:t>Storage Structure.</a:t>
            </a:r>
          </a:p>
          <a:p>
            <a:pPr marL="0" indent="0">
              <a:buNone/>
            </a:pPr>
            <a:endParaRPr lang="en-IN" b="1" i="1" dirty="0">
              <a:solidFill>
                <a:srgbClr val="C00000"/>
              </a:solidFill>
            </a:endParaRPr>
          </a:p>
        </p:txBody>
      </p:sp>
      <p:pic>
        <p:nvPicPr>
          <p:cNvPr id="4098" name="Picture 2" descr="E:\Clients\Darshan\Data Structure\2018\PPT\images\Algorith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487710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:\Clients\Darshan\Data Structure\2018\PPT\images\data structur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535336"/>
            <a:ext cx="1625934" cy="132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E:\Clients\Darshan\Data Structure\2018\PPT\images\Amazon-Interview-Questions - Copy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1" y="2535336"/>
            <a:ext cx="1488951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lus 3"/>
          <p:cNvSpPr/>
          <p:nvPr/>
        </p:nvSpPr>
        <p:spPr>
          <a:xfrm>
            <a:off x="4191000" y="2906810"/>
            <a:ext cx="533400" cy="533400"/>
          </a:xfrm>
          <a:prstGeom prst="mathPlus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qual 5"/>
          <p:cNvSpPr/>
          <p:nvPr/>
        </p:nvSpPr>
        <p:spPr>
          <a:xfrm>
            <a:off x="7155744" y="2906810"/>
            <a:ext cx="533400" cy="533400"/>
          </a:xfrm>
          <a:prstGeom prst="mathEqual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90801" y="4083445"/>
            <a:ext cx="1460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Algorithm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953001" y="4083445"/>
            <a:ext cx="2042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Data Structure</a:t>
            </a:r>
            <a:endParaRPr lang="en-US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8110974" y="4083445"/>
            <a:ext cx="1269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Program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5166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6" grpId="0" animBg="1"/>
      <p:bldP spid="7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Data Structure</a:t>
            </a:r>
            <a:endParaRPr lang="en-US" dirty="0"/>
          </a:p>
        </p:txBody>
      </p:sp>
      <p:sp>
        <p:nvSpPr>
          <p:cNvPr id="54" name="Rounded Rectangle 53"/>
          <p:cNvSpPr/>
          <p:nvPr/>
        </p:nvSpPr>
        <p:spPr>
          <a:xfrm>
            <a:off x="4650809" y="997857"/>
            <a:ext cx="2286000" cy="457200"/>
          </a:xfrm>
          <a:prstGeom prst="roundRect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Data Structure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2060009" y="1455057"/>
            <a:ext cx="7949852" cy="914400"/>
            <a:chOff x="609600" y="1600200"/>
            <a:chExt cx="7949852" cy="914400"/>
          </a:xfrm>
          <a:solidFill>
            <a:sysClr val="window" lastClr="FFFFFF">
              <a:lumMod val="50000"/>
            </a:sysClr>
          </a:solidFill>
        </p:grpSpPr>
        <p:sp>
          <p:nvSpPr>
            <p:cNvPr id="58" name="Rounded Rectangle 57"/>
            <p:cNvSpPr/>
            <p:nvPr/>
          </p:nvSpPr>
          <p:spPr>
            <a:xfrm>
              <a:off x="609600" y="2057400"/>
              <a:ext cx="2590800" cy="457200"/>
            </a:xfrm>
            <a:prstGeom prst="roundRect">
              <a:avLst/>
            </a:prstGeom>
            <a:solidFill>
              <a:sysClr val="window" lastClr="FFFFFF">
                <a:lumMod val="50000"/>
              </a:sysClr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Primitive Data Structure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5435252" y="2057400"/>
              <a:ext cx="3124200" cy="457200"/>
            </a:xfrm>
            <a:prstGeom prst="roundRect">
              <a:avLst/>
            </a:prstGeom>
            <a:solidFill>
              <a:sysClr val="window" lastClr="FFFFFF">
                <a:lumMod val="50000"/>
              </a:sysClr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Non-Primitive Data Structure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  <p:cxnSp>
          <p:nvCxnSpPr>
            <p:cNvPr id="62" name="Straight Connector 61"/>
            <p:cNvCxnSpPr/>
            <p:nvPr/>
          </p:nvCxnSpPr>
          <p:spPr>
            <a:xfrm>
              <a:off x="1905000" y="1752600"/>
              <a:ext cx="5105400" cy="0"/>
            </a:xfrm>
            <a:prstGeom prst="lin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64" name="Straight Arrow Connector 63"/>
            <p:cNvCxnSpPr>
              <a:endCxn id="58" idx="0"/>
            </p:cNvCxnSpPr>
            <p:nvPr/>
          </p:nvCxnSpPr>
          <p:spPr>
            <a:xfrm>
              <a:off x="1905000" y="1752600"/>
              <a:ext cx="0" cy="304800"/>
            </a:xfrm>
            <a:prstGeom prst="straightConnector1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66" name="Straight Arrow Connector 65"/>
            <p:cNvCxnSpPr>
              <a:endCxn id="60" idx="0"/>
            </p:cNvCxnSpPr>
            <p:nvPr/>
          </p:nvCxnSpPr>
          <p:spPr>
            <a:xfrm>
              <a:off x="6997352" y="1752600"/>
              <a:ext cx="0" cy="304800"/>
            </a:xfrm>
            <a:prstGeom prst="straightConnector1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67" name="Straight Connector 66"/>
            <p:cNvCxnSpPr>
              <a:stCxn id="54" idx="2"/>
            </p:cNvCxnSpPr>
            <p:nvPr/>
          </p:nvCxnSpPr>
          <p:spPr>
            <a:xfrm>
              <a:off x="4343400" y="1600200"/>
              <a:ext cx="0" cy="152400"/>
            </a:xfrm>
            <a:prstGeom prst="lin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</p:grpSp>
      <p:grpSp>
        <p:nvGrpSpPr>
          <p:cNvPr id="68" name="Group 67"/>
          <p:cNvGrpSpPr/>
          <p:nvPr/>
        </p:nvGrpSpPr>
        <p:grpSpPr>
          <a:xfrm>
            <a:off x="1744771" y="2369457"/>
            <a:ext cx="3678476" cy="1811055"/>
            <a:chOff x="294362" y="2514600"/>
            <a:chExt cx="3678476" cy="1811055"/>
          </a:xfrm>
        </p:grpSpPr>
        <p:sp>
          <p:nvSpPr>
            <p:cNvPr id="69" name="Rounded Rectangle 68"/>
            <p:cNvSpPr/>
            <p:nvPr/>
          </p:nvSpPr>
          <p:spPr>
            <a:xfrm>
              <a:off x="294362" y="2895600"/>
              <a:ext cx="1077238" cy="457200"/>
            </a:xfrm>
            <a:prstGeom prst="roundRect">
              <a:avLst/>
            </a:prstGeom>
            <a:solidFill>
              <a:sysClr val="window" lastClr="FFFFFF">
                <a:lumMod val="75000"/>
              </a:sysClr>
            </a:solidFill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Integer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1213981" y="3716055"/>
              <a:ext cx="1077238" cy="609600"/>
            </a:xfrm>
            <a:prstGeom prst="roundRect">
              <a:avLst/>
            </a:prstGeom>
            <a:solidFill>
              <a:sysClr val="window" lastClr="FFFFFF">
                <a:lumMod val="75000"/>
              </a:sysClr>
            </a:solidFill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Floating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Point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1882282" y="2895600"/>
              <a:ext cx="1291224" cy="457200"/>
            </a:xfrm>
            <a:prstGeom prst="roundRect">
              <a:avLst/>
            </a:prstGeom>
            <a:solidFill>
              <a:sysClr val="window" lastClr="FFFFFF">
                <a:lumMod val="75000"/>
              </a:sysClr>
            </a:solidFill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Characters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2895600" y="3716055"/>
              <a:ext cx="1077238" cy="457200"/>
            </a:xfrm>
            <a:prstGeom prst="roundRect">
              <a:avLst/>
            </a:prstGeom>
            <a:solidFill>
              <a:sysClr val="window" lastClr="FFFFFF">
                <a:lumMod val="75000"/>
              </a:sysClr>
            </a:solidFill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Pointers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cxnSp>
          <p:nvCxnSpPr>
            <p:cNvPr id="75" name="Straight Connector 74"/>
            <p:cNvCxnSpPr/>
            <p:nvPr/>
          </p:nvCxnSpPr>
          <p:spPr>
            <a:xfrm>
              <a:off x="832981" y="2667000"/>
              <a:ext cx="2601238" cy="0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76" name="Straight Arrow Connector 75"/>
            <p:cNvCxnSpPr>
              <a:endCxn id="69" idx="0"/>
            </p:cNvCxnSpPr>
            <p:nvPr/>
          </p:nvCxnSpPr>
          <p:spPr>
            <a:xfrm>
              <a:off x="832981" y="2667000"/>
              <a:ext cx="0" cy="22860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77" name="Straight Arrow Connector 76"/>
            <p:cNvCxnSpPr>
              <a:endCxn id="71" idx="0"/>
            </p:cNvCxnSpPr>
            <p:nvPr/>
          </p:nvCxnSpPr>
          <p:spPr>
            <a:xfrm>
              <a:off x="2516688" y="2653553"/>
              <a:ext cx="11206" cy="242047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79" name="Straight Arrow Connector 78"/>
            <p:cNvCxnSpPr>
              <a:endCxn id="73" idx="0"/>
            </p:cNvCxnSpPr>
            <p:nvPr/>
          </p:nvCxnSpPr>
          <p:spPr>
            <a:xfrm>
              <a:off x="3434219" y="2667000"/>
              <a:ext cx="0" cy="1049055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81" name="Straight Arrow Connector 80"/>
            <p:cNvCxnSpPr>
              <a:endCxn id="70" idx="0"/>
            </p:cNvCxnSpPr>
            <p:nvPr/>
          </p:nvCxnSpPr>
          <p:spPr>
            <a:xfrm>
              <a:off x="1752600" y="2667000"/>
              <a:ext cx="0" cy="1049055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83" name="Straight Connector 82"/>
            <p:cNvCxnSpPr>
              <a:stCxn id="58" idx="2"/>
            </p:cNvCxnSpPr>
            <p:nvPr/>
          </p:nvCxnSpPr>
          <p:spPr>
            <a:xfrm>
              <a:off x="1905000" y="2514600"/>
              <a:ext cx="0" cy="152400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  <p:grpSp>
        <p:nvGrpSpPr>
          <p:cNvPr id="85" name="Group 84"/>
          <p:cNvGrpSpPr/>
          <p:nvPr/>
        </p:nvGrpSpPr>
        <p:grpSpPr>
          <a:xfrm>
            <a:off x="6022409" y="3207657"/>
            <a:ext cx="3886200" cy="1295400"/>
            <a:chOff x="4572000" y="3352800"/>
            <a:chExt cx="3886200" cy="1295400"/>
          </a:xfrm>
          <a:solidFill>
            <a:sysClr val="window" lastClr="FFFFFF">
              <a:lumMod val="85000"/>
            </a:sysClr>
          </a:solidFill>
        </p:grpSpPr>
        <p:sp>
          <p:nvSpPr>
            <p:cNvPr id="86" name="Rounded Rectangle 85"/>
            <p:cNvSpPr/>
            <p:nvPr/>
          </p:nvSpPr>
          <p:spPr>
            <a:xfrm>
              <a:off x="4572000" y="4038600"/>
              <a:ext cx="1077238" cy="609600"/>
            </a:xfrm>
            <a:prstGeom prst="roundRect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Linear List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7173238" y="4038600"/>
              <a:ext cx="1284962" cy="609600"/>
            </a:xfrm>
            <a:prstGeom prst="roundRect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Non-linear List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cxnSp>
          <p:nvCxnSpPr>
            <p:cNvPr id="90" name="Straight Connector 89"/>
            <p:cNvCxnSpPr/>
            <p:nvPr/>
          </p:nvCxnSpPr>
          <p:spPr>
            <a:xfrm>
              <a:off x="5110619" y="3733800"/>
              <a:ext cx="2705100" cy="0"/>
            </a:xfrm>
            <a:prstGeom prst="line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91" name="Straight Arrow Connector 90"/>
            <p:cNvCxnSpPr>
              <a:endCxn id="86" idx="0"/>
            </p:cNvCxnSpPr>
            <p:nvPr/>
          </p:nvCxnSpPr>
          <p:spPr>
            <a:xfrm>
              <a:off x="5110619" y="3716055"/>
              <a:ext cx="0" cy="322545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92" name="Straight Arrow Connector 91"/>
            <p:cNvCxnSpPr>
              <a:endCxn id="87" idx="0"/>
            </p:cNvCxnSpPr>
            <p:nvPr/>
          </p:nvCxnSpPr>
          <p:spPr>
            <a:xfrm>
              <a:off x="7815719" y="3733800"/>
              <a:ext cx="0" cy="304800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99" name="Straight Connector 98"/>
            <p:cNvCxnSpPr>
              <a:stCxn id="116" idx="2"/>
            </p:cNvCxnSpPr>
            <p:nvPr/>
          </p:nvCxnSpPr>
          <p:spPr>
            <a:xfrm>
              <a:off x="6634619" y="3352800"/>
              <a:ext cx="0" cy="381000"/>
            </a:xfrm>
            <a:prstGeom prst="line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  <p:grpSp>
        <p:nvGrpSpPr>
          <p:cNvPr id="100" name="Group 99"/>
          <p:cNvGrpSpPr/>
          <p:nvPr/>
        </p:nvGrpSpPr>
        <p:grpSpPr>
          <a:xfrm>
            <a:off x="5326171" y="4503057"/>
            <a:ext cx="2374725" cy="1066800"/>
            <a:chOff x="3875762" y="4648200"/>
            <a:chExt cx="2374725" cy="1066800"/>
          </a:xfrm>
          <a:solidFill>
            <a:sysClr val="window" lastClr="FFFFFF">
              <a:lumMod val="95000"/>
            </a:sysClr>
          </a:solidFill>
        </p:grpSpPr>
        <p:sp>
          <p:nvSpPr>
            <p:cNvPr id="101" name="Rounded Rectangle 100"/>
            <p:cNvSpPr/>
            <p:nvPr/>
          </p:nvSpPr>
          <p:spPr>
            <a:xfrm>
              <a:off x="3875762" y="5257800"/>
              <a:ext cx="1077238" cy="457200"/>
            </a:xfrm>
            <a:prstGeom prst="roundRect">
              <a:avLst/>
            </a:prstGeom>
            <a:grp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Stack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5173249" y="5257800"/>
              <a:ext cx="1077238" cy="457200"/>
            </a:xfrm>
            <a:prstGeom prst="roundRect">
              <a:avLst/>
            </a:prstGeom>
            <a:grp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Queue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cxnSp>
          <p:nvCxnSpPr>
            <p:cNvPr id="103" name="Straight Connector 102"/>
            <p:cNvCxnSpPr/>
            <p:nvPr/>
          </p:nvCxnSpPr>
          <p:spPr>
            <a:xfrm>
              <a:off x="4409162" y="4953000"/>
              <a:ext cx="1302706" cy="0"/>
            </a:xfrm>
            <a:prstGeom prst="line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4" name="Straight Arrow Connector 103"/>
            <p:cNvCxnSpPr>
              <a:endCxn id="101" idx="0"/>
            </p:cNvCxnSpPr>
            <p:nvPr/>
          </p:nvCxnSpPr>
          <p:spPr>
            <a:xfrm>
              <a:off x="4409162" y="4953000"/>
              <a:ext cx="5219" cy="304800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5" name="Straight Arrow Connector 104"/>
            <p:cNvCxnSpPr>
              <a:endCxn id="102" idx="0"/>
            </p:cNvCxnSpPr>
            <p:nvPr/>
          </p:nvCxnSpPr>
          <p:spPr>
            <a:xfrm>
              <a:off x="5711868" y="4953000"/>
              <a:ext cx="0" cy="304800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6" name="Straight Connector 105"/>
            <p:cNvCxnSpPr>
              <a:stCxn id="86" idx="2"/>
            </p:cNvCxnSpPr>
            <p:nvPr/>
          </p:nvCxnSpPr>
          <p:spPr>
            <a:xfrm>
              <a:off x="5110619" y="4648200"/>
              <a:ext cx="0" cy="304800"/>
            </a:xfrm>
            <a:prstGeom prst="line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  <p:grpSp>
        <p:nvGrpSpPr>
          <p:cNvPr id="107" name="Group 106"/>
          <p:cNvGrpSpPr/>
          <p:nvPr/>
        </p:nvGrpSpPr>
        <p:grpSpPr>
          <a:xfrm>
            <a:off x="8085028" y="4503057"/>
            <a:ext cx="2362200" cy="1066800"/>
            <a:chOff x="6634619" y="4648200"/>
            <a:chExt cx="2362200" cy="1066800"/>
          </a:xfrm>
          <a:solidFill>
            <a:sysClr val="window" lastClr="FFFFFF">
              <a:lumMod val="95000"/>
            </a:sysClr>
          </a:solidFill>
        </p:grpSpPr>
        <p:sp>
          <p:nvSpPr>
            <p:cNvPr id="108" name="Rounded Rectangle 107"/>
            <p:cNvSpPr/>
            <p:nvPr/>
          </p:nvSpPr>
          <p:spPr>
            <a:xfrm>
              <a:off x="6634619" y="5257800"/>
              <a:ext cx="1077238" cy="457200"/>
            </a:xfrm>
            <a:prstGeom prst="roundRect">
              <a:avLst/>
            </a:prstGeom>
            <a:grp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Graphs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09" name="Rounded Rectangle 108"/>
            <p:cNvSpPr/>
            <p:nvPr/>
          </p:nvSpPr>
          <p:spPr>
            <a:xfrm>
              <a:off x="7919581" y="5257800"/>
              <a:ext cx="1077238" cy="457200"/>
            </a:xfrm>
            <a:prstGeom prst="roundRect">
              <a:avLst/>
            </a:prstGeom>
            <a:grp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Trees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>
              <a:off x="7173238" y="4953000"/>
              <a:ext cx="1284962" cy="0"/>
            </a:xfrm>
            <a:prstGeom prst="line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1" name="Straight Arrow Connector 110"/>
            <p:cNvCxnSpPr>
              <a:endCxn id="108" idx="0"/>
            </p:cNvCxnSpPr>
            <p:nvPr/>
          </p:nvCxnSpPr>
          <p:spPr>
            <a:xfrm>
              <a:off x="7173238" y="4953000"/>
              <a:ext cx="0" cy="304800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2" name="Straight Arrow Connector 111"/>
            <p:cNvCxnSpPr>
              <a:endCxn id="109" idx="0"/>
            </p:cNvCxnSpPr>
            <p:nvPr/>
          </p:nvCxnSpPr>
          <p:spPr>
            <a:xfrm>
              <a:off x="8458200" y="4953000"/>
              <a:ext cx="0" cy="304800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3" name="Straight Arrow Connector 112"/>
            <p:cNvCxnSpPr>
              <a:stCxn id="87" idx="2"/>
            </p:cNvCxnSpPr>
            <p:nvPr/>
          </p:nvCxnSpPr>
          <p:spPr>
            <a:xfrm>
              <a:off x="7815719" y="4648200"/>
              <a:ext cx="0" cy="304800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  <p:grpSp>
        <p:nvGrpSpPr>
          <p:cNvPr id="114" name="Group 113"/>
          <p:cNvGrpSpPr/>
          <p:nvPr/>
        </p:nvGrpSpPr>
        <p:grpSpPr>
          <a:xfrm>
            <a:off x="6022409" y="2369457"/>
            <a:ext cx="4277638" cy="838200"/>
            <a:chOff x="4572000" y="2514600"/>
            <a:chExt cx="4277638" cy="838200"/>
          </a:xfrm>
          <a:solidFill>
            <a:sysClr val="window" lastClr="FFFFFF">
              <a:lumMod val="65000"/>
            </a:sysClr>
          </a:solidFill>
        </p:grpSpPr>
        <p:sp>
          <p:nvSpPr>
            <p:cNvPr id="115" name="Rounded Rectangle 114"/>
            <p:cNvSpPr/>
            <p:nvPr/>
          </p:nvSpPr>
          <p:spPr>
            <a:xfrm>
              <a:off x="4572000" y="2895600"/>
              <a:ext cx="1077238" cy="457200"/>
            </a:xfrm>
            <a:prstGeom prst="roundRect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Arrays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16" name="Rounded Rectangle 115"/>
            <p:cNvSpPr/>
            <p:nvPr/>
          </p:nvSpPr>
          <p:spPr>
            <a:xfrm>
              <a:off x="6096000" y="2895600"/>
              <a:ext cx="1077238" cy="457200"/>
            </a:xfrm>
            <a:prstGeom prst="roundRect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Lists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7772400" y="2895600"/>
              <a:ext cx="1077238" cy="457200"/>
            </a:xfrm>
            <a:prstGeom prst="roundRect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Files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cxnSp>
          <p:nvCxnSpPr>
            <p:cNvPr id="118" name="Straight Connector 117"/>
            <p:cNvCxnSpPr/>
            <p:nvPr/>
          </p:nvCxnSpPr>
          <p:spPr>
            <a:xfrm>
              <a:off x="5110619" y="2667000"/>
              <a:ext cx="3200400" cy="0"/>
            </a:xfrm>
            <a:prstGeom prst="line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9" name="Straight Arrow Connector 118"/>
            <p:cNvCxnSpPr>
              <a:endCxn id="115" idx="0"/>
            </p:cNvCxnSpPr>
            <p:nvPr/>
          </p:nvCxnSpPr>
          <p:spPr>
            <a:xfrm>
              <a:off x="5110619" y="2667000"/>
              <a:ext cx="0" cy="228600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0" name="Straight Arrow Connector 119"/>
            <p:cNvCxnSpPr>
              <a:endCxn id="116" idx="0"/>
            </p:cNvCxnSpPr>
            <p:nvPr/>
          </p:nvCxnSpPr>
          <p:spPr>
            <a:xfrm>
              <a:off x="6634619" y="2667000"/>
              <a:ext cx="0" cy="228600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1" name="Straight Arrow Connector 120"/>
            <p:cNvCxnSpPr>
              <a:endCxn id="117" idx="0"/>
            </p:cNvCxnSpPr>
            <p:nvPr/>
          </p:nvCxnSpPr>
          <p:spPr>
            <a:xfrm>
              <a:off x="8311019" y="2667000"/>
              <a:ext cx="0" cy="228600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2" name="Straight Connector 121"/>
            <p:cNvCxnSpPr>
              <a:stCxn id="60" idx="2"/>
            </p:cNvCxnSpPr>
            <p:nvPr/>
          </p:nvCxnSpPr>
          <p:spPr>
            <a:xfrm>
              <a:off x="6997352" y="2514600"/>
              <a:ext cx="0" cy="152400"/>
            </a:xfrm>
            <a:prstGeom prst="line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17424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Primitive / Non-primitive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Primitive data structures</a:t>
            </a:r>
          </a:p>
          <a:p>
            <a:pPr lvl="1"/>
            <a:r>
              <a:rPr lang="en-IN" dirty="0"/>
              <a:t>Primitive data structures are basic structures and are directly operated upon by machine instructions.</a:t>
            </a:r>
          </a:p>
          <a:p>
            <a:pPr lvl="1"/>
            <a:r>
              <a:rPr lang="en-IN" b="1" i="1" dirty="0">
                <a:solidFill>
                  <a:srgbClr val="C00000"/>
                </a:solidFill>
              </a:rPr>
              <a:t>Integers</a:t>
            </a:r>
            <a:r>
              <a:rPr lang="en-IN" dirty="0"/>
              <a:t>, </a:t>
            </a:r>
            <a:r>
              <a:rPr lang="en-IN" b="1" i="1" dirty="0">
                <a:solidFill>
                  <a:srgbClr val="C00000"/>
                </a:solidFill>
              </a:rPr>
              <a:t>floats</a:t>
            </a:r>
            <a:r>
              <a:rPr lang="en-IN" dirty="0"/>
              <a:t>, </a:t>
            </a:r>
            <a:r>
              <a:rPr lang="en-IN" b="1" i="1" dirty="0">
                <a:solidFill>
                  <a:srgbClr val="C00000"/>
                </a:solidFill>
              </a:rPr>
              <a:t>character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</a:t>
            </a:r>
            <a:r>
              <a:rPr lang="en-IN" b="1" i="1" dirty="0">
                <a:solidFill>
                  <a:srgbClr val="C00000"/>
                </a:solidFill>
              </a:rPr>
              <a:t>pointers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are examples of primitive data structures.</a:t>
            </a:r>
          </a:p>
          <a:p>
            <a:r>
              <a:rPr lang="en-US" b="1" dirty="0"/>
              <a:t>Non primitive data structure</a:t>
            </a:r>
          </a:p>
          <a:p>
            <a:pPr lvl="1"/>
            <a:r>
              <a:rPr lang="en-IN" dirty="0"/>
              <a:t>These are derived </a:t>
            </a:r>
            <a:r>
              <a:rPr lang="en-IN" dirty="0">
                <a:ea typeface="Roboto Light" pitchFamily="2" charset="0"/>
              </a:rPr>
              <a:t>from</a:t>
            </a:r>
            <a:r>
              <a:rPr lang="en-IN" dirty="0"/>
              <a:t> primitive data structures.</a:t>
            </a:r>
          </a:p>
          <a:p>
            <a:pPr lvl="1"/>
            <a:r>
              <a:rPr lang="en-IN" dirty="0"/>
              <a:t>The non-primitive data structures emphasize on structuring of a group of homogeneous or heterogeneous  data items.</a:t>
            </a:r>
          </a:p>
          <a:p>
            <a:pPr lvl="1"/>
            <a:r>
              <a:rPr lang="en-IN" dirty="0"/>
              <a:t>Examples of Non-primitive data type are </a:t>
            </a:r>
            <a:r>
              <a:rPr lang="en-IN" b="1" i="1" dirty="0">
                <a:solidFill>
                  <a:srgbClr val="C00000"/>
                </a:solidFill>
              </a:rPr>
              <a:t>Array</a:t>
            </a:r>
            <a:r>
              <a:rPr lang="en-IN" dirty="0"/>
              <a:t>, </a:t>
            </a:r>
            <a:r>
              <a:rPr lang="en-IN" b="1" i="1" dirty="0">
                <a:solidFill>
                  <a:srgbClr val="C00000"/>
                </a:solidFill>
              </a:rPr>
              <a:t>List</a:t>
            </a:r>
            <a:r>
              <a:rPr lang="en-IN" dirty="0"/>
              <a:t>, and </a:t>
            </a:r>
            <a:r>
              <a:rPr lang="en-IN" b="1" i="1" dirty="0">
                <a:solidFill>
                  <a:srgbClr val="C00000"/>
                </a:solidFill>
              </a:rPr>
              <a:t>File</a:t>
            </a:r>
            <a:r>
              <a:rPr lang="en-IN" b="1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945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 primitive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Array:</a:t>
            </a:r>
            <a:r>
              <a:rPr lang="en-IN" dirty="0"/>
              <a:t> An array is a fixed-size sequenced collection of elements of the same data type.</a:t>
            </a:r>
          </a:p>
          <a:p>
            <a:r>
              <a:rPr lang="en-IN" b="1" dirty="0"/>
              <a:t>List:</a:t>
            </a:r>
            <a:r>
              <a:rPr lang="en-IN" dirty="0"/>
              <a:t> An ordered set containing variable number of elements is called as Lists.</a:t>
            </a:r>
          </a:p>
          <a:p>
            <a:r>
              <a:rPr lang="en-IN" b="1" dirty="0"/>
              <a:t>File:</a:t>
            </a:r>
            <a:r>
              <a:rPr lang="en-IN" dirty="0"/>
              <a:t> A file is a collection of logically related information. It can be viewed as a large list of records consisting of various fields.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09800" y="2881085"/>
            <a:ext cx="609600" cy="4572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819400" y="2881085"/>
            <a:ext cx="609600" cy="4572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29000" y="2881085"/>
            <a:ext cx="609600" cy="4572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038600" y="2881085"/>
            <a:ext cx="609600" cy="4572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648200" y="2881085"/>
            <a:ext cx="609600" cy="4572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09800" y="4481285"/>
            <a:ext cx="609600" cy="4572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048000" y="4481285"/>
            <a:ext cx="609600" cy="4572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886200" y="4481285"/>
            <a:ext cx="609600" cy="4572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724400" y="4481285"/>
            <a:ext cx="609600" cy="4572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562600" y="4481285"/>
            <a:ext cx="609600" cy="4572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9" idx="3"/>
            <a:endCxn id="10" idx="1"/>
          </p:cNvCxnSpPr>
          <p:nvPr/>
        </p:nvCxnSpPr>
        <p:spPr>
          <a:xfrm>
            <a:off x="2819400" y="4709885"/>
            <a:ext cx="228600" cy="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0" idx="3"/>
            <a:endCxn id="11" idx="1"/>
          </p:cNvCxnSpPr>
          <p:nvPr/>
        </p:nvCxnSpPr>
        <p:spPr>
          <a:xfrm>
            <a:off x="3657600" y="4709885"/>
            <a:ext cx="228600" cy="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1" idx="3"/>
            <a:endCxn id="12" idx="1"/>
          </p:cNvCxnSpPr>
          <p:nvPr/>
        </p:nvCxnSpPr>
        <p:spPr>
          <a:xfrm>
            <a:off x="4495800" y="4709885"/>
            <a:ext cx="228600" cy="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2" idx="3"/>
            <a:endCxn id="13" idx="1"/>
          </p:cNvCxnSpPr>
          <p:nvPr/>
        </p:nvCxnSpPr>
        <p:spPr>
          <a:xfrm>
            <a:off x="5334000" y="4709885"/>
            <a:ext cx="228600" cy="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24200" y="3307241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Array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3581400" y="4938485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List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8381635" y="5497003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File</a:t>
            </a:r>
            <a:endParaRPr lang="en-US" b="1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3D88540-4E80-FC18-3438-EBB375937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119354"/>
              </p:ext>
            </p:extLst>
          </p:nvPr>
        </p:nvGraphicFramePr>
        <p:xfrm>
          <a:off x="7200090" y="2530283"/>
          <a:ext cx="3582290" cy="29667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132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7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KALPESH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JITENDRA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8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174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474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760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2" grpId="0"/>
      <p:bldP spid="27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/ Non-Linear data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Linear data structures</a:t>
            </a:r>
          </a:p>
          <a:p>
            <a:pPr lvl="1"/>
            <a:r>
              <a:rPr lang="en-IN" dirty="0"/>
              <a:t>A data structure is said to be Linear, if its elements are connected in linear fashion by means of logically or in sequence memory locations.</a:t>
            </a:r>
          </a:p>
          <a:p>
            <a:pPr lvl="1"/>
            <a:r>
              <a:rPr lang="en-IN" dirty="0"/>
              <a:t>Examples of Linear Data Structure are </a:t>
            </a:r>
            <a:r>
              <a:rPr lang="en-IN" b="1" i="1" dirty="0">
                <a:solidFill>
                  <a:srgbClr val="C00000"/>
                </a:solidFill>
              </a:rPr>
              <a:t>Stack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</a:t>
            </a:r>
            <a:r>
              <a:rPr lang="en-IN" b="1" i="1" dirty="0">
                <a:solidFill>
                  <a:srgbClr val="C00000"/>
                </a:solidFill>
              </a:rPr>
              <a:t>Queue</a:t>
            </a:r>
            <a:r>
              <a:rPr lang="en-IN" dirty="0"/>
              <a:t>.</a:t>
            </a:r>
          </a:p>
          <a:p>
            <a:r>
              <a:rPr lang="en-US" b="1" dirty="0"/>
              <a:t>Nonlinear data structures</a:t>
            </a:r>
          </a:p>
          <a:p>
            <a:pPr lvl="1"/>
            <a:r>
              <a:rPr lang="en-IN" dirty="0"/>
              <a:t>Nonlinear data structures are those data structure in which data items are not arranged in a sequence.</a:t>
            </a:r>
          </a:p>
          <a:p>
            <a:pPr lvl="1"/>
            <a:r>
              <a:rPr lang="en-IN" dirty="0"/>
              <a:t>Examples of Non-linear Data Structure are </a:t>
            </a:r>
            <a:r>
              <a:rPr lang="en-IN" b="1" i="1" dirty="0">
                <a:solidFill>
                  <a:srgbClr val="C00000"/>
                </a:solidFill>
              </a:rPr>
              <a:t>Tree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</a:t>
            </a:r>
            <a:r>
              <a:rPr lang="en-IN" b="1" i="1" dirty="0">
                <a:solidFill>
                  <a:srgbClr val="C00000"/>
                </a:solidFill>
              </a:rPr>
              <a:t>Graph</a:t>
            </a:r>
            <a:r>
              <a:rPr lang="en-IN" b="1" i="1" dirty="0"/>
              <a:t>.</a:t>
            </a:r>
            <a:endParaRPr lang="en-US" b="1" i="1" dirty="0"/>
          </a:p>
        </p:txBody>
      </p:sp>
      <p:pic>
        <p:nvPicPr>
          <p:cNvPr id="2050" name="Picture 2" descr="E:\Clients\Darshan\Data Structure\images\Data Structure\391px-Data_stack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088" y="3770086"/>
            <a:ext cx="1862137" cy="1338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E:\Clients\Darshan\Data Structure\images\Data Structure\Fifo_queue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288" y="3770086"/>
            <a:ext cx="1738403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:\Clients\Darshan\Data Structure\images\Data Structure\Tre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693886"/>
            <a:ext cx="1828800" cy="150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E:\Clients\Darshan\Data Structure\images\Data Structure\440px-6n-graph2.sv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3605346"/>
            <a:ext cx="1485900" cy="1624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96887" y="5370286"/>
            <a:ext cx="1219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Stack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82887" y="5370286"/>
            <a:ext cx="1219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Queue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934200" y="5370286"/>
            <a:ext cx="1219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Tree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8839200" y="5370286"/>
            <a:ext cx="1219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Graph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0022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9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between Linear and Non-Linear Data Structures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4787643"/>
              </p:ext>
            </p:extLst>
          </p:nvPr>
        </p:nvGraphicFramePr>
        <p:xfrm>
          <a:off x="266513" y="776974"/>
          <a:ext cx="11658600" cy="5314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9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233">
                <a:tc>
                  <a:txBody>
                    <a:bodyPr/>
                    <a:lstStyle/>
                    <a:p>
                      <a:r>
                        <a:rPr lang="en-US" sz="2100" dirty="0" err="1"/>
                        <a:t>Sr.No</a:t>
                      </a:r>
                      <a:r>
                        <a:rPr lang="en-US" sz="21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Linear Data</a:t>
                      </a:r>
                      <a:r>
                        <a:rPr lang="en-US" sz="2100" baseline="0" dirty="0"/>
                        <a:t> Structure</a:t>
                      </a:r>
                      <a:endParaRPr 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Non-Linear Data</a:t>
                      </a:r>
                      <a:r>
                        <a:rPr lang="en-US" sz="2100" baseline="0" dirty="0"/>
                        <a:t> Structure</a:t>
                      </a:r>
                      <a:endParaRPr 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5263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Elements are </a:t>
                      </a:r>
                      <a:r>
                        <a:rPr lang="en-US" sz="2100" b="1" dirty="0"/>
                        <a:t>arranged in a linear order </a:t>
                      </a:r>
                      <a:r>
                        <a:rPr lang="en-US" sz="2100" dirty="0"/>
                        <a:t>where each and every element is attached to its previous and next adjacent.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Elements are attached in </a:t>
                      </a:r>
                      <a:r>
                        <a:rPr lang="en-US" sz="2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hierarchically</a:t>
                      </a:r>
                      <a:r>
                        <a:rPr lang="en-US" sz="2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manner.</a:t>
                      </a:r>
                      <a:endParaRPr 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233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Single level </a:t>
                      </a:r>
                      <a:r>
                        <a:rPr lang="en-US" sz="2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 involved.</a:t>
                      </a:r>
                      <a:endParaRPr 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Multiple levels </a:t>
                      </a:r>
                      <a:r>
                        <a:rPr lang="en-US" sz="2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are involved.</a:t>
                      </a:r>
                      <a:endParaRPr 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1373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Its </a:t>
                      </a:r>
                      <a:r>
                        <a:rPr lang="en-US" sz="2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implementation is easy </a:t>
                      </a:r>
                      <a:r>
                        <a:rPr lang="en-US" sz="2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comparison to non-linear data structure.</a:t>
                      </a:r>
                      <a:endParaRPr lang="en-US" sz="2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r>
                        <a:rPr lang="en-US" sz="2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Its </a:t>
                      </a:r>
                      <a:r>
                        <a:rPr lang="en-US" sz="2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implementation is complex </a:t>
                      </a:r>
                      <a:r>
                        <a:rPr lang="en-US" sz="2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comparison to linear data structure.</a:t>
                      </a:r>
                      <a:endParaRPr 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9748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elements </a:t>
                      </a:r>
                      <a:r>
                        <a:rPr lang="en-US" sz="2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be traversed in a single run </a:t>
                      </a:r>
                      <a:r>
                        <a:rPr lang="en-US" sz="2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only.</a:t>
                      </a:r>
                      <a:endParaRPr 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elements </a:t>
                      </a:r>
                      <a:r>
                        <a:rPr lang="en-US" sz="2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can’t be </a:t>
                      </a:r>
                      <a:r>
                        <a:rPr lang="en-US" sz="2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traversed in a single run only.</a:t>
                      </a:r>
                      <a:endParaRPr 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9748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Its </a:t>
                      </a:r>
                      <a:r>
                        <a:rPr lang="en-US" sz="2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examples</a:t>
                      </a:r>
                      <a:r>
                        <a:rPr lang="en-US" sz="2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are: array, stack, queue, linked list, etc.</a:t>
                      </a:r>
                      <a:endParaRPr 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Its </a:t>
                      </a:r>
                      <a:r>
                        <a:rPr lang="en-US" sz="2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examples</a:t>
                      </a:r>
                      <a:r>
                        <a:rPr lang="en-US" sz="2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are: trees and graphs.</a:t>
                      </a:r>
                      <a:endParaRPr 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89748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Applications </a:t>
                      </a:r>
                      <a:r>
                        <a:rPr lang="en-US" sz="2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 linear data structures are mainly in application software development.</a:t>
                      </a:r>
                      <a:endParaRPr 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Applications</a:t>
                      </a:r>
                      <a:r>
                        <a:rPr lang="en-US" sz="2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non-linear data structures are in Artificial Intelligence and image processing.</a:t>
                      </a:r>
                      <a:endParaRPr 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287154" y="1214387"/>
            <a:ext cx="11617692" cy="1126156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87154" y="2377441"/>
            <a:ext cx="11617692" cy="404261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7154" y="2826656"/>
            <a:ext cx="11617692" cy="875899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7154" y="3721980"/>
            <a:ext cx="11617692" cy="757142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66513" y="4479122"/>
            <a:ext cx="11617692" cy="814122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66513" y="5323884"/>
            <a:ext cx="11617692" cy="750769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34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of Data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Create</a:t>
            </a:r>
            <a:r>
              <a:rPr lang="en-IN" dirty="0"/>
              <a:t>: It results in reserving memory for program elements.</a:t>
            </a:r>
          </a:p>
          <a:p>
            <a:r>
              <a:rPr lang="en-IN" b="1" dirty="0"/>
              <a:t>Destroy</a:t>
            </a:r>
            <a:r>
              <a:rPr lang="en-IN" dirty="0"/>
              <a:t>: It destroys memory space allocated for specified data structure.</a:t>
            </a:r>
          </a:p>
          <a:p>
            <a:r>
              <a:rPr lang="en-IN" b="1" dirty="0"/>
              <a:t>Selection</a:t>
            </a:r>
            <a:r>
              <a:rPr lang="en-IN" dirty="0"/>
              <a:t>: It deals with accessing a particular data within a data structure.</a:t>
            </a:r>
          </a:p>
          <a:p>
            <a:r>
              <a:rPr lang="en-IN" b="1" dirty="0" err="1"/>
              <a:t>Updation</a:t>
            </a:r>
            <a:r>
              <a:rPr lang="en-IN" dirty="0"/>
              <a:t>: It updates or modifies the data in the data structure.</a:t>
            </a:r>
          </a:p>
          <a:p>
            <a:r>
              <a:rPr lang="en-IN" b="1" dirty="0"/>
              <a:t>Searching</a:t>
            </a:r>
            <a:r>
              <a:rPr lang="en-IN" dirty="0"/>
              <a:t>: It finds the presence of desired data item in the list of data items.</a:t>
            </a:r>
          </a:p>
          <a:p>
            <a:r>
              <a:rPr lang="en-IN" b="1" dirty="0"/>
              <a:t>Sorting</a:t>
            </a:r>
            <a:r>
              <a:rPr lang="en-IN" dirty="0"/>
              <a:t>: It is a process of arranging all data items in a data structure in a particular order.</a:t>
            </a:r>
          </a:p>
          <a:p>
            <a:r>
              <a:rPr lang="en-IN" b="1" dirty="0"/>
              <a:t>Merging</a:t>
            </a:r>
            <a:r>
              <a:rPr lang="en-IN" dirty="0"/>
              <a:t>: It is a process of combining the data items of two different sorted list into a single sorted list.</a:t>
            </a:r>
          </a:p>
          <a:p>
            <a:r>
              <a:rPr lang="en-IN" b="1" dirty="0"/>
              <a:t>Splitting</a:t>
            </a:r>
            <a:r>
              <a:rPr lang="en-IN" dirty="0"/>
              <a:t>: It is a process of partitioning single list to multiple list.</a:t>
            </a:r>
          </a:p>
          <a:p>
            <a:r>
              <a:rPr lang="en-IN" b="1" dirty="0"/>
              <a:t>Traversal</a:t>
            </a:r>
            <a:r>
              <a:rPr lang="en-IN" dirty="0"/>
              <a:t>: It is a process of visiting each and every node of a list in systematic manner.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954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 and space analysis of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Sometimes, there are more than one way to solve a problem. </a:t>
            </a:r>
          </a:p>
          <a:p>
            <a:r>
              <a:rPr lang="en-IN" dirty="0"/>
              <a:t>We need to learn how to compare the performance of different algorithms and choose the best one to solve a particular problem. </a:t>
            </a:r>
          </a:p>
          <a:p>
            <a:r>
              <a:rPr lang="en-IN" dirty="0"/>
              <a:t>While analysing an algorithm, we mostly consider time complexity and space complexity.</a:t>
            </a:r>
          </a:p>
          <a:p>
            <a:r>
              <a:rPr lang="en-IN" b="1" i="1" dirty="0">
                <a:solidFill>
                  <a:srgbClr val="C00000"/>
                </a:solidFill>
              </a:rPr>
              <a:t>Time complexity </a:t>
            </a:r>
            <a:r>
              <a:rPr lang="en-IN" dirty="0"/>
              <a:t>of an algorithm </a:t>
            </a:r>
            <a:r>
              <a:rPr lang="en-IN" b="1" dirty="0"/>
              <a:t>quantifies the amount of time </a:t>
            </a:r>
            <a:r>
              <a:rPr lang="en-IN" dirty="0"/>
              <a:t>taken by an algorithm to run as a function of the length of the input.</a:t>
            </a:r>
          </a:p>
          <a:p>
            <a:r>
              <a:rPr lang="en-IN" b="1" i="1" dirty="0">
                <a:solidFill>
                  <a:srgbClr val="C00000"/>
                </a:solidFill>
              </a:rPr>
              <a:t>Space complexity </a:t>
            </a:r>
            <a:r>
              <a:rPr lang="en-IN" dirty="0"/>
              <a:t>of an algorithm </a:t>
            </a:r>
            <a:r>
              <a:rPr lang="en-IN" b="1" dirty="0"/>
              <a:t>quantifies the amount of space or memory </a:t>
            </a:r>
            <a:r>
              <a:rPr lang="en-IN" dirty="0"/>
              <a:t>taken by an algorithm to run as a function of the length of the input.</a:t>
            </a:r>
          </a:p>
          <a:p>
            <a:r>
              <a:rPr lang="en-IN" dirty="0"/>
              <a:t>Time &amp; space complexity depends on lots of things like </a:t>
            </a:r>
            <a:r>
              <a:rPr lang="en-IN" b="1" dirty="0"/>
              <a:t>hardware, operating system, processors</a:t>
            </a:r>
            <a:r>
              <a:rPr lang="en-IN" dirty="0"/>
              <a:t>, etc. </a:t>
            </a:r>
          </a:p>
          <a:p>
            <a:r>
              <a:rPr lang="en-IN" dirty="0"/>
              <a:t>However, we don't consider any of these factors while analysing the algorithm. We will only consider the execution time of an algorithm.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40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Worst-Best-Average Case Time 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Worst-Case Analysis: </a:t>
            </a:r>
          </a:p>
          <a:p>
            <a:pPr lvl="1"/>
            <a:r>
              <a:rPr lang="en-IN" dirty="0"/>
              <a:t>In Worst Case analysis </a:t>
            </a:r>
            <a:r>
              <a:rPr lang="en-IN" b="1" dirty="0">
                <a:solidFill>
                  <a:srgbClr val="C00000"/>
                </a:solidFill>
              </a:rPr>
              <a:t>upper bound </a:t>
            </a:r>
            <a:r>
              <a:rPr lang="en-IN" dirty="0"/>
              <a:t>on the running time of an algorithm is calculated.</a:t>
            </a:r>
          </a:p>
          <a:p>
            <a:pPr lvl="1"/>
            <a:r>
              <a:rPr lang="en-US" dirty="0"/>
              <a:t>This is the case that causes a </a:t>
            </a:r>
            <a:r>
              <a:rPr lang="en-US" b="1" dirty="0">
                <a:solidFill>
                  <a:srgbClr val="C00000"/>
                </a:solidFill>
              </a:rPr>
              <a:t>maximum number of operations </a:t>
            </a:r>
            <a:r>
              <a:rPr lang="en-US" dirty="0"/>
              <a:t>to be executed.</a:t>
            </a:r>
          </a:p>
          <a:p>
            <a:pPr lvl="1"/>
            <a:r>
              <a:rPr lang="en-US" dirty="0"/>
              <a:t>For Linear Search, the worst case happens when the element to be searched (x) is not present in the array.</a:t>
            </a:r>
            <a:endParaRPr lang="en-IN" dirty="0"/>
          </a:p>
          <a:p>
            <a:pPr lvl="1"/>
            <a:r>
              <a:rPr lang="en-US" dirty="0"/>
              <a:t>When x is not present, the search()</a:t>
            </a:r>
            <a:r>
              <a:rPr lang="en-US" b="1" dirty="0"/>
              <a:t> </a:t>
            </a:r>
            <a:r>
              <a:rPr lang="en-US" dirty="0"/>
              <a:t>function compares it with all the elements of </a:t>
            </a:r>
            <a:r>
              <a:rPr lang="en-US" dirty="0" err="1"/>
              <a:t>arr</a:t>
            </a:r>
            <a:r>
              <a:rPr lang="en-US" dirty="0"/>
              <a:t>[] one by one. </a:t>
            </a:r>
          </a:p>
          <a:p>
            <a:pPr lvl="1"/>
            <a:r>
              <a:rPr lang="en-IN" dirty="0"/>
              <a:t>Therefore, having the knowledge of worst-case running time gives us an assurance that </a:t>
            </a:r>
            <a:r>
              <a:rPr lang="en-IN" b="1" dirty="0">
                <a:solidFill>
                  <a:srgbClr val="C00000"/>
                </a:solidFill>
              </a:rPr>
              <a:t>the algorithm will never go beyond this time limit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006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Worst-Best-Average Case Time 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Best-Case Analysis: </a:t>
            </a:r>
          </a:p>
          <a:p>
            <a:pPr lvl="1"/>
            <a:r>
              <a:rPr lang="en-IN" dirty="0"/>
              <a:t>In Best Case analysis </a:t>
            </a:r>
            <a:r>
              <a:rPr lang="en-IN" b="1" dirty="0">
                <a:solidFill>
                  <a:srgbClr val="C00000"/>
                </a:solidFill>
              </a:rPr>
              <a:t>lower bound </a:t>
            </a:r>
            <a:r>
              <a:rPr lang="en-IN" dirty="0"/>
              <a:t>on the running time of an algorithm is calculated.</a:t>
            </a:r>
          </a:p>
          <a:p>
            <a:pPr lvl="1"/>
            <a:r>
              <a:rPr lang="en-US" dirty="0"/>
              <a:t>This is the case that causes a </a:t>
            </a:r>
            <a:r>
              <a:rPr lang="en-US" b="1" dirty="0">
                <a:solidFill>
                  <a:srgbClr val="C00000"/>
                </a:solidFill>
              </a:rPr>
              <a:t>minimum number of operations </a:t>
            </a:r>
            <a:r>
              <a:rPr lang="en-US" dirty="0"/>
              <a:t>to be executed.</a:t>
            </a:r>
          </a:p>
          <a:p>
            <a:pPr lvl="1"/>
            <a:r>
              <a:rPr lang="en-US" dirty="0"/>
              <a:t>In the Linear Search problem, the best case occurs when x is present at the first location.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76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Worst-Best-Average Case Time 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Average-Case Analysis: </a:t>
            </a:r>
          </a:p>
          <a:p>
            <a:pPr lvl="1"/>
            <a:r>
              <a:rPr lang="en-US" dirty="0"/>
              <a:t>In Average Case analysis, we take </a:t>
            </a:r>
            <a:r>
              <a:rPr lang="en-US" b="1" dirty="0">
                <a:solidFill>
                  <a:srgbClr val="C00000"/>
                </a:solidFill>
              </a:rPr>
              <a:t>all possible inputs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calculate the computing time for all of the inputs</a:t>
            </a:r>
            <a:r>
              <a:rPr lang="en-US" dirty="0"/>
              <a:t>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Sum all the calculated values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divide the sum by the total number of inputs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 specifies the expected behavior of the algorithm when the input is randomly drawn from a given distribution. </a:t>
            </a:r>
          </a:p>
          <a:p>
            <a:pPr lvl="1"/>
            <a:r>
              <a:rPr lang="en-US" dirty="0"/>
              <a:t>For Linear Search, this case happens when the search element is present somewhere in the middle of the array.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692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Notations in Complexity Analysis of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Big-O Notation:</a:t>
            </a:r>
          </a:p>
          <a:p>
            <a:pPr lvl="1"/>
            <a:r>
              <a:rPr lang="en-US" dirty="0"/>
              <a:t>An algorithm’s </a:t>
            </a:r>
            <a:r>
              <a:rPr lang="en-US" b="1" dirty="0">
                <a:solidFill>
                  <a:srgbClr val="C00000"/>
                </a:solidFill>
              </a:rPr>
              <a:t>worst-case</a:t>
            </a:r>
            <a:r>
              <a:rPr lang="en-US" dirty="0"/>
              <a:t> time complexity is defined by the Big-O notation.</a:t>
            </a:r>
          </a:p>
          <a:p>
            <a:pPr lvl="1"/>
            <a:r>
              <a:rPr lang="en-US" dirty="0"/>
              <a:t>This notation gives the </a:t>
            </a:r>
            <a:r>
              <a:rPr lang="en-US" b="1" dirty="0">
                <a:solidFill>
                  <a:srgbClr val="C00000"/>
                </a:solidFill>
              </a:rPr>
              <a:t>maximum amount of time </a:t>
            </a:r>
            <a:r>
              <a:rPr lang="en-US" dirty="0"/>
              <a:t>an algorithm requires to consider all input values.</a:t>
            </a:r>
          </a:p>
          <a:p>
            <a:pPr lvl="1"/>
            <a:r>
              <a:rPr lang="en-US" dirty="0"/>
              <a:t>Notation used: </a:t>
            </a:r>
            <a:r>
              <a:rPr lang="en-US" b="1" dirty="0"/>
              <a:t>(O)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Omega Notation:</a:t>
            </a:r>
          </a:p>
          <a:p>
            <a:pPr lvl="1"/>
            <a:r>
              <a:rPr lang="en-US" dirty="0"/>
              <a:t>An algorithm’s </a:t>
            </a:r>
            <a:r>
              <a:rPr lang="en-US" b="1" dirty="0">
                <a:solidFill>
                  <a:srgbClr val="C00000"/>
                </a:solidFill>
              </a:rPr>
              <a:t>best-case</a:t>
            </a:r>
            <a:r>
              <a:rPr lang="en-US" dirty="0"/>
              <a:t> time complexity is defined by the Omega notation.</a:t>
            </a:r>
          </a:p>
          <a:p>
            <a:pPr lvl="1"/>
            <a:r>
              <a:rPr lang="en-US" dirty="0"/>
              <a:t>This notation gives the </a:t>
            </a:r>
            <a:r>
              <a:rPr lang="en-US" b="1" dirty="0">
                <a:solidFill>
                  <a:srgbClr val="C00000"/>
                </a:solidFill>
              </a:rPr>
              <a:t>minimum amount of time </a:t>
            </a:r>
            <a:r>
              <a:rPr lang="en-US" dirty="0"/>
              <a:t>an algorithm requires to consider all input values.</a:t>
            </a:r>
          </a:p>
          <a:p>
            <a:pPr lvl="1"/>
            <a:r>
              <a:rPr lang="en-US" dirty="0"/>
              <a:t>Notation used: </a:t>
            </a:r>
            <a:r>
              <a:rPr lang="en-US" b="1" dirty="0"/>
              <a:t>(Ω)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Theta Notation:</a:t>
            </a:r>
          </a:p>
          <a:p>
            <a:pPr marL="857250" lvl="1" indent="-395288"/>
            <a:r>
              <a:rPr lang="en-US" dirty="0"/>
              <a:t>An algorithm’s </a:t>
            </a:r>
            <a:r>
              <a:rPr lang="en-US" b="1" dirty="0">
                <a:solidFill>
                  <a:srgbClr val="C00000"/>
                </a:solidFill>
              </a:rPr>
              <a:t>average-case</a:t>
            </a:r>
            <a:r>
              <a:rPr lang="en-US" dirty="0"/>
              <a:t> time complexity is defined by the Theta notation.</a:t>
            </a:r>
          </a:p>
          <a:p>
            <a:pPr lvl="1"/>
            <a:r>
              <a:rPr lang="en-US" dirty="0"/>
              <a:t>This notation gives the </a:t>
            </a:r>
            <a:r>
              <a:rPr lang="en-US" b="1" dirty="0">
                <a:solidFill>
                  <a:srgbClr val="C00000"/>
                </a:solidFill>
              </a:rPr>
              <a:t>estimated average amount of time </a:t>
            </a:r>
            <a:r>
              <a:rPr lang="en-US" dirty="0"/>
              <a:t>an algorithm requires to consider all input values.</a:t>
            </a:r>
          </a:p>
          <a:p>
            <a:pPr lvl="1"/>
            <a:r>
              <a:rPr lang="en-US" dirty="0"/>
              <a:t>Notation used: </a:t>
            </a:r>
            <a:r>
              <a:rPr lang="en-US" b="1" dirty="0"/>
              <a:t>(Ꝋ)</a:t>
            </a:r>
          </a:p>
        </p:txBody>
      </p:sp>
    </p:spTree>
    <p:extLst>
      <p:ext uri="{BB962C8B-B14F-4D97-AF65-F5344CB8AC3E}">
        <p14:creationId xmlns:p14="http://schemas.microsoft.com/office/powerpoint/2010/main" val="135799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Calculate Time Complexity of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Time Complexity </a:t>
            </a:r>
            <a:r>
              <a:rPr lang="en-IN" dirty="0"/>
              <a:t>is most commonly </a:t>
            </a:r>
            <a:r>
              <a:rPr lang="en-IN" b="1" dirty="0"/>
              <a:t>estimated</a:t>
            </a:r>
            <a:r>
              <a:rPr lang="en-IN" dirty="0"/>
              <a:t> by </a:t>
            </a:r>
            <a:r>
              <a:rPr lang="en-IN" b="1" dirty="0"/>
              <a:t>counting</a:t>
            </a:r>
            <a:r>
              <a:rPr lang="en-IN" dirty="0"/>
              <a:t> the </a:t>
            </a:r>
            <a:r>
              <a:rPr lang="en-IN" b="1" dirty="0">
                <a:solidFill>
                  <a:srgbClr val="C00000"/>
                </a:solidFill>
              </a:rPr>
              <a:t>number of elementary functions performed</a:t>
            </a:r>
            <a:r>
              <a:rPr lang="en-IN" dirty="0"/>
              <a:t> by the algorithm.</a:t>
            </a:r>
          </a:p>
          <a:p>
            <a:r>
              <a:rPr lang="en-IN" dirty="0"/>
              <a:t>Since the algorithm's performance may vary with different types of input data, </a:t>
            </a:r>
          </a:p>
          <a:p>
            <a:pPr lvl="1"/>
            <a:r>
              <a:rPr lang="en-IN" dirty="0"/>
              <a:t>hence for an algorithm we usually use the </a:t>
            </a:r>
            <a:r>
              <a:rPr lang="en-IN" b="1" dirty="0">
                <a:solidFill>
                  <a:srgbClr val="C00000"/>
                </a:solidFill>
              </a:rPr>
              <a:t>worst-case Time complexity </a:t>
            </a:r>
            <a:r>
              <a:rPr lang="en-IN" dirty="0"/>
              <a:t>of an algorithm because that is the maximum time taken for any input size.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680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Calculating Time 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Calculate Time Complexity of Sum of elements of List (One dimensional Array)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818608" y="1639135"/>
            <a:ext cx="548329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latin typeface="Consolas" pitchFamily="49" charset="0"/>
                <a:cs typeface="Consolas" pitchFamily="49" charset="0"/>
              </a:rPr>
              <a:t>SumOfList</a:t>
            </a:r>
            <a:r>
              <a:rPr lang="en-US" sz="2200" b="1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2200" b="1" dirty="0" err="1">
                <a:latin typeface="Consolas" pitchFamily="49" charset="0"/>
                <a:cs typeface="Consolas" pitchFamily="49" charset="0"/>
              </a:rPr>
              <a:t>A,n</a:t>
            </a:r>
            <a:r>
              <a:rPr lang="en-US" sz="2200" b="1" dirty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en-US" sz="2200" b="1" dirty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Line 1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 total = 0</a:t>
            </a:r>
          </a:p>
          <a:p>
            <a:r>
              <a:rPr 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Line 2  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for i = 0 to n-1</a:t>
            </a:r>
          </a:p>
          <a:p>
            <a:r>
              <a:rPr 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Line 3 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  total = total + A[i]</a:t>
            </a:r>
          </a:p>
          <a:p>
            <a:r>
              <a:rPr 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Line 4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 return total</a:t>
            </a:r>
          </a:p>
          <a:p>
            <a:r>
              <a:rPr lang="en-US" sz="2200" b="1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82806" y="1454468"/>
            <a:ext cx="4002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A is array, n is no of elements in array</a:t>
            </a:r>
            <a:endParaRPr lang="en-US" sz="2000" dirty="0"/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>
            <a:off x="4267204" y="1654523"/>
            <a:ext cx="2615602" cy="218503"/>
          </a:xfrm>
          <a:prstGeom prst="straightConnector1">
            <a:avLst/>
          </a:prstGeom>
          <a:ln w="25400">
            <a:solidFill>
              <a:schemeClr val="tx2">
                <a:lumMod val="75000"/>
              </a:schemeClr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67" idx="1"/>
          </p:cNvCxnSpPr>
          <p:nvPr/>
        </p:nvCxnSpPr>
        <p:spPr>
          <a:xfrm flipH="1">
            <a:off x="4972365" y="2490977"/>
            <a:ext cx="2753493" cy="6077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70" idx="1"/>
          </p:cNvCxnSpPr>
          <p:nvPr/>
        </p:nvCxnSpPr>
        <p:spPr>
          <a:xfrm flipH="1">
            <a:off x="5638802" y="2863811"/>
            <a:ext cx="2087056" cy="6077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73" idx="1"/>
          </p:cNvCxnSpPr>
          <p:nvPr/>
        </p:nvCxnSpPr>
        <p:spPr>
          <a:xfrm flipH="1">
            <a:off x="6882807" y="3193103"/>
            <a:ext cx="843051" cy="6077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76" idx="1"/>
          </p:cNvCxnSpPr>
          <p:nvPr/>
        </p:nvCxnSpPr>
        <p:spPr>
          <a:xfrm flipH="1">
            <a:off x="5391465" y="3541898"/>
            <a:ext cx="2334393" cy="6077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057400" y="4186089"/>
            <a:ext cx="3581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TSumOfList  =  </a:t>
            </a:r>
            <a:r>
              <a:rPr lang="pt-BR" dirty="0"/>
              <a:t>1 + 2 (n+1) + 2n + 1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243549" y="4512004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=</a:t>
            </a:r>
            <a:r>
              <a:rPr lang="pt-BR" dirty="0"/>
              <a:t> 4n + 4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3243549" y="4829659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=</a:t>
            </a:r>
            <a:r>
              <a:rPr lang="pt-BR" dirty="0"/>
              <a:t> n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5747132" y="4512004"/>
            <a:ext cx="2890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We can neglate constant 4</a:t>
            </a:r>
            <a:endParaRPr lang="en-US" sz="2000" dirty="0"/>
          </a:p>
        </p:txBody>
      </p:sp>
      <p:cxnSp>
        <p:nvCxnSpPr>
          <p:cNvPr id="49" name="Straight Arrow Connector 48"/>
          <p:cNvCxnSpPr>
            <a:stCxn id="45" idx="3"/>
          </p:cNvCxnSpPr>
          <p:nvPr/>
        </p:nvCxnSpPr>
        <p:spPr>
          <a:xfrm flipH="1">
            <a:off x="4191001" y="4696670"/>
            <a:ext cx="1414749" cy="0"/>
          </a:xfrm>
          <a:prstGeom prst="straightConnector1">
            <a:avLst/>
          </a:prstGeom>
          <a:ln w="25400">
            <a:solidFill>
              <a:schemeClr val="tx2">
                <a:lumMod val="75000"/>
              </a:schemeClr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133600" y="5351391"/>
            <a:ext cx="7772400" cy="40011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Time complexity of given algorithm is </a:t>
            </a:r>
            <a:r>
              <a:rPr lang="en-IN" sz="2000" b="1" i="1" dirty="0">
                <a:solidFill>
                  <a:srgbClr val="C00000"/>
                </a:solidFill>
              </a:rPr>
              <a:t>n</a:t>
            </a:r>
            <a:r>
              <a:rPr lang="en-IN" sz="2000" dirty="0"/>
              <a:t> unit time </a:t>
            </a:r>
            <a:endParaRPr lang="en-US" sz="2000" dirty="0"/>
          </a:p>
        </p:txBody>
      </p:sp>
      <p:sp>
        <p:nvSpPr>
          <p:cNvPr id="62" name="TextBox 61"/>
          <p:cNvSpPr txBox="1"/>
          <p:nvPr/>
        </p:nvSpPr>
        <p:spPr>
          <a:xfrm>
            <a:off x="8411658" y="1964648"/>
            <a:ext cx="685800" cy="369332"/>
          </a:xfrm>
          <a:prstGeom prst="rect">
            <a:avLst/>
          </a:prstGeom>
          <a:gradFill rotWithShape="1">
            <a:gsLst>
              <a:gs pos="0">
                <a:sysClr val="windowText" lastClr="000000">
                  <a:shade val="51000"/>
                  <a:satMod val="130000"/>
                </a:sysClr>
              </a:gs>
              <a:gs pos="80000">
                <a:sysClr val="windowText" lastClr="000000">
                  <a:shade val="93000"/>
                  <a:satMod val="130000"/>
                </a:sysClr>
              </a:gs>
              <a:gs pos="100000">
                <a:sysClr val="windowText" lastClr="000000">
                  <a:shade val="94000"/>
                  <a:satMod val="135000"/>
                </a:sysClr>
              </a:gs>
            </a:gsLst>
            <a:lin ang="16200000" scaled="0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Cost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097458" y="1963411"/>
            <a:ext cx="1447800" cy="369332"/>
          </a:xfrm>
          <a:prstGeom prst="rect">
            <a:avLst/>
          </a:prstGeom>
          <a:gradFill rotWithShape="1">
            <a:gsLst>
              <a:gs pos="0">
                <a:sysClr val="windowText" lastClr="000000">
                  <a:shade val="51000"/>
                  <a:satMod val="130000"/>
                </a:sysClr>
              </a:gs>
              <a:gs pos="80000">
                <a:sysClr val="windowText" lastClr="000000">
                  <a:shade val="93000"/>
                  <a:satMod val="130000"/>
                </a:sysClr>
              </a:gs>
              <a:gs pos="100000">
                <a:sysClr val="windowText" lastClr="000000">
                  <a:shade val="94000"/>
                  <a:satMod val="135000"/>
                </a:sysClr>
              </a:gs>
            </a:gsLst>
            <a:lin ang="16200000" scaled="0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No of Times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411658" y="2370843"/>
            <a:ext cx="685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9097458" y="2370843"/>
            <a:ext cx="1447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725858" y="1963411"/>
            <a:ext cx="685800" cy="369332"/>
          </a:xfrm>
          <a:prstGeom prst="rect">
            <a:avLst/>
          </a:prstGeom>
          <a:gradFill rotWithShape="1">
            <a:gsLst>
              <a:gs pos="0">
                <a:sysClr val="windowText" lastClr="000000">
                  <a:shade val="51000"/>
                  <a:satMod val="130000"/>
                </a:sysClr>
              </a:gs>
              <a:gs pos="80000">
                <a:sysClr val="windowText" lastClr="000000">
                  <a:shade val="93000"/>
                  <a:satMod val="130000"/>
                </a:sysClr>
              </a:gs>
              <a:gs pos="100000">
                <a:sysClr val="windowText" lastClr="000000">
                  <a:shade val="94000"/>
                  <a:satMod val="135000"/>
                </a:sysClr>
              </a:gs>
            </a:gsLst>
            <a:lin ang="16200000" scaled="0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Line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7725858" y="2370843"/>
            <a:ext cx="685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8411658" y="2743677"/>
            <a:ext cx="685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2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9097458" y="2743677"/>
            <a:ext cx="1447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n + 1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725858" y="2743677"/>
            <a:ext cx="685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2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8411658" y="3072969"/>
            <a:ext cx="685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2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9097458" y="3072969"/>
            <a:ext cx="1447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725858" y="3072969"/>
            <a:ext cx="685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3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411658" y="3421764"/>
            <a:ext cx="685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9097458" y="3421764"/>
            <a:ext cx="1447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7725858" y="3421764"/>
            <a:ext cx="685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4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520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44" grpId="0"/>
      <p:bldP spid="45" grpId="0"/>
      <p:bldP spid="46" grpId="0"/>
      <p:bldP spid="47" grpId="0"/>
      <p:bldP spid="50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shruti.maniar@darshan.ac.in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Shruti Maniar</a:t>
            </a:r>
          </a:p>
        </p:txBody>
      </p:sp>
      <p:sp>
        <p:nvSpPr>
          <p:cNvPr id="9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#2305CS201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89" y="5211251"/>
            <a:ext cx="1377109" cy="1353599"/>
          </a:xfrm>
        </p:spPr>
      </p:pic>
    </p:spTree>
    <p:extLst>
      <p:ext uri="{BB962C8B-B14F-4D97-AF65-F5344CB8AC3E}">
        <p14:creationId xmlns:p14="http://schemas.microsoft.com/office/powerpoint/2010/main" val="521059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1567</TotalTime>
  <Words>1410</Words>
  <Application>Microsoft Office PowerPoint</Application>
  <PresentationFormat>Widescreen</PresentationFormat>
  <Paragraphs>213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3" baseType="lpstr">
      <vt:lpstr>Times New Roman</vt:lpstr>
      <vt:lpstr>Wingdings</vt:lpstr>
      <vt:lpstr>Segoe UI Black</vt:lpstr>
      <vt:lpstr>Calibri</vt:lpstr>
      <vt:lpstr>Consolas</vt:lpstr>
      <vt:lpstr>Roboto Light</vt:lpstr>
      <vt:lpstr>Arial</vt:lpstr>
      <vt:lpstr>Open Sans</vt:lpstr>
      <vt:lpstr>Wingdings 3</vt:lpstr>
      <vt:lpstr>Roboto Condensed</vt:lpstr>
      <vt:lpstr>Roboto Condensed Light</vt:lpstr>
      <vt:lpstr>Open Sans Semibold</vt:lpstr>
      <vt:lpstr>Wingdings 2</vt:lpstr>
      <vt:lpstr>Office Theme</vt:lpstr>
      <vt:lpstr>Unit-1  Introduction to  Data Structure </vt:lpstr>
      <vt:lpstr>PowerPoint Presentation</vt:lpstr>
      <vt:lpstr>What is Data?</vt:lpstr>
      <vt:lpstr>What is Data Structure?</vt:lpstr>
      <vt:lpstr>What is Data Structure? Cont..</vt:lpstr>
      <vt:lpstr>Classification of Data Structure</vt:lpstr>
      <vt:lpstr>Primitive / Non-primitive data structures</vt:lpstr>
      <vt:lpstr>Non primitive Data Structure</vt:lpstr>
      <vt:lpstr>Linear / Non-Linear data structure</vt:lpstr>
      <vt:lpstr>Differences between Linear and Non-Linear Data Structures</vt:lpstr>
      <vt:lpstr>Operations of Data Structure</vt:lpstr>
      <vt:lpstr>Time and space analysis of algorithms</vt:lpstr>
      <vt:lpstr>Worst-Best-Average Case Time Complexity</vt:lpstr>
      <vt:lpstr>Worst-Best-Average Case Time Complexity</vt:lpstr>
      <vt:lpstr>Worst-Best-Average Case Time Complexity</vt:lpstr>
      <vt:lpstr>Notations in Complexity Analysis of Algorithm</vt:lpstr>
      <vt:lpstr>Calculate Time Complexity of Algorithm</vt:lpstr>
      <vt:lpstr>Calculating Time Complexity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Structure</dc:title>
  <dc:creator>ADMIN</dc:creator>
  <cp:keywords>Data Structure, Darshan Institute of Engineering &amp; Technology, DIET</cp:keywords>
  <cp:lastModifiedBy>DELL</cp:lastModifiedBy>
  <cp:revision>177</cp:revision>
  <dcterms:created xsi:type="dcterms:W3CDTF">2020-05-01T05:09:15Z</dcterms:created>
  <dcterms:modified xsi:type="dcterms:W3CDTF">2025-12-17T02:48:59Z</dcterms:modified>
</cp:coreProperties>
</file>