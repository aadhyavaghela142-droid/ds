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3" r:id="rId2"/>
    <p:sldId id="292" r:id="rId3"/>
    <p:sldId id="357" r:id="rId4"/>
    <p:sldId id="373" r:id="rId5"/>
    <p:sldId id="374" r:id="rId6"/>
    <p:sldId id="367" r:id="rId7"/>
    <p:sldId id="368" r:id="rId8"/>
    <p:sldId id="369" r:id="rId9"/>
    <p:sldId id="370" r:id="rId10"/>
    <p:sldId id="371" r:id="rId11"/>
    <p:sldId id="350" r:id="rId12"/>
    <p:sldId id="351" r:id="rId13"/>
    <p:sldId id="358" r:id="rId14"/>
    <p:sldId id="354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59" r:id="rId23"/>
  </p:sldIdLst>
  <p:sldSz cx="12192000" cy="6858000"/>
  <p:notesSz cx="6858000" cy="9144000"/>
  <p:embeddedFontLst>
    <p:embeddedFont>
      <p:font typeface="Roboto Condensed Light" panose="02000000000000000000" pitchFamily="2" charset="0"/>
      <p:regular r:id="rId26"/>
      <p: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Arial Rounded MT Bold" panose="020F0704030504030204" pitchFamily="34" charset="0"/>
      <p:regular r:id="rId32"/>
    </p:embeddedFont>
    <p:embeddedFont>
      <p:font typeface="Segoe UI Black" panose="020B0A02040204020203" pitchFamily="34" charset="0"/>
      <p:bold r:id="rId33"/>
      <p:boldItalic r:id="rId34"/>
    </p:embeddedFont>
    <p:embeddedFont>
      <p:font typeface="Open Sans Semibold" panose="020B0604020202020204" charset="0"/>
      <p:bold r:id="rId35"/>
      <p:boldItalic r:id="rId36"/>
    </p:embeddedFont>
    <p:embeddedFont>
      <p:font typeface="Shruti" panose="020B0604020202020204" charset="0"/>
      <p:regular r:id="rId37"/>
      <p:bold r:id="rId38"/>
    </p:embeddedFont>
    <p:embeddedFont>
      <p:font typeface="Wingdings 3" panose="05040102010807070707" pitchFamily="18" charset="2"/>
      <p:regular r:id="rId39"/>
    </p:embeddedFont>
    <p:embeddedFont>
      <p:font typeface="Wingdings 2" panose="05020102010507070707" pitchFamily="18" charset="2"/>
      <p:regular r:id="rId40"/>
    </p:embeddedFont>
    <p:embeddedFont>
      <p:font typeface="Roboto Condensed" panose="02000000000000000000" pitchFamily="2" charset="0"/>
      <p:regular r:id="rId41"/>
      <p:bold r:id="rId42"/>
      <p:italic r:id="rId43"/>
      <p:boldItalic r:id="rId44"/>
    </p:embeddedFont>
    <p:embeddedFont>
      <p:font typeface="Open Sans" panose="020B060402020202020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Zb80+760Ci1f0ebuT6UdoQ==" hashData="h2tT3c+pvpb3cT47NdpUhaB57ZAeJsYfCYXnwbaYily5GoMJA4q2OHG8Zv/WFGM4SxTCHUjr4eW+D7elnsE8W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5C0000"/>
    <a:srgbClr val="1D3064"/>
    <a:srgbClr val="F54337"/>
    <a:srgbClr val="ED524F"/>
    <a:srgbClr val="3366FF"/>
    <a:srgbClr val="301B92"/>
    <a:srgbClr val="673BB7"/>
    <a:srgbClr val="607D8B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1" autoAdjust="0"/>
    <p:restoredTop sz="94660"/>
  </p:normalViewPr>
  <p:slideViewPr>
    <p:cSldViewPr snapToGrid="0">
      <p:cViewPr varScale="1">
        <p:scale>
          <a:sx n="83" d="100"/>
          <a:sy n="83" d="100"/>
        </p:scale>
        <p:origin x="5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</a:t>
            </a:r>
            <a:r>
              <a:rPr lang="en-US" sz="1600" dirty="0" smtClean="0"/>
              <a:t>University, </a:t>
            </a:r>
            <a:r>
              <a:rPr lang="en-US" sz="1600" dirty="0"/>
              <a:t>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 smtClean="0"/>
              <a:t># </a:t>
            </a:r>
            <a:r>
              <a:rPr lang="en-US" dirty="0"/>
              <a:t>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434" y="2201220"/>
            <a:ext cx="4109921" cy="17845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</a:t>
            </a:r>
            <a:r>
              <a:rPr lang="en-US" sz="1600" dirty="0" smtClean="0"/>
              <a:t>University, </a:t>
            </a:r>
            <a:r>
              <a:rPr lang="en-US" sz="1600" dirty="0"/>
              <a:t>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 smtClean="0"/>
              <a:t># </a:t>
            </a:r>
            <a:r>
              <a:rPr lang="en-US" dirty="0"/>
              <a:t>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9792796" y="61697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Shruti 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Linear Data Structure (Array)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 smtClean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 smtClean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 smtClean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 smtClean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 smtClean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4400" b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sz="6000" smtClean="0"/>
              <a:t> 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smtClean="0"/>
              <a:t>Linear Data Structure</a:t>
            </a:r>
            <a:br>
              <a:rPr lang="en-US" sz="6000" dirty="0" smtClean="0"/>
            </a:br>
            <a:r>
              <a:rPr lang="en-US" sz="6000" dirty="0" smtClean="0"/>
              <a:t>Array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hruti.maniar@darshan.ac.in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Prof. Shruti Maniar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DS)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2305CS201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5189480"/>
            <a:ext cx="1371600" cy="1396377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6886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Array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Representation of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arrays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One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dimensional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array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Two dimensional array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Address Calculation of 1-D and 2-D Array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Applications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of arrays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Symbol Manipulation (matrix representation of polynomial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equation)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Sparse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matrix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Sparse matrix and its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representation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Pointer Overview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Dynamic Memory Allocation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Simplest data structure that makes use of computed address to locate its elements is the one-dimensional array or </a:t>
            </a:r>
            <a:r>
              <a:rPr lang="en-IN" dirty="0" smtClean="0"/>
              <a:t>vector.</a:t>
            </a:r>
          </a:p>
          <a:p>
            <a:r>
              <a:rPr lang="en-IN" dirty="0" smtClean="0"/>
              <a:t>Number of memory locations is sequentially allocated to the vector.</a:t>
            </a:r>
          </a:p>
          <a:p>
            <a:r>
              <a:rPr lang="en-IN" dirty="0"/>
              <a:t>A vector size is fixed and therefore requires a fixed number of memory </a:t>
            </a:r>
            <a:r>
              <a:rPr lang="en-IN" dirty="0" smtClean="0"/>
              <a:t>locations.</a:t>
            </a:r>
          </a:p>
        </p:txBody>
      </p:sp>
    </p:spTree>
    <p:extLst>
      <p:ext uri="{BB962C8B-B14F-4D97-AF65-F5344CB8AC3E}">
        <p14:creationId xmlns:p14="http://schemas.microsoft.com/office/powerpoint/2010/main" val="425046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61338" y="2411506"/>
            <a:ext cx="4329953" cy="636494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 calculation of 1-D array </a:t>
            </a:r>
            <a:r>
              <a:rPr lang="en-US" dirty="0"/>
              <a:t>e</a:t>
            </a:r>
            <a:r>
              <a:rPr lang="en-US" dirty="0" smtClean="0"/>
              <a:t>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smtClean="0"/>
              <a:t>The address of other data elements can be calculated using the base address.</a:t>
            </a:r>
          </a:p>
          <a:p>
            <a:r>
              <a:rPr lang="en-US" dirty="0" smtClean="0"/>
              <a:t>The formula to perform the calculation:</a:t>
            </a:r>
          </a:p>
          <a:p>
            <a:pPr marL="0" indent="287338">
              <a:buNone/>
            </a:pPr>
            <a:r>
              <a:rPr lang="en-US" dirty="0" smtClean="0"/>
              <a:t>Address of data element,</a:t>
            </a:r>
          </a:p>
          <a:p>
            <a:pPr marL="0" indent="0" algn="ctr">
              <a:buNone/>
            </a:pPr>
            <a:r>
              <a:rPr lang="en-US" dirty="0" smtClean="0"/>
              <a:t> </a:t>
            </a:r>
            <a:r>
              <a:rPr lang="en-US" b="1" dirty="0">
                <a:solidFill>
                  <a:srgbClr val="C00000"/>
                </a:solidFill>
              </a:rPr>
              <a:t>A[k] = BA(A) + w(k – </a:t>
            </a:r>
            <a:r>
              <a:rPr lang="en-US" b="1" dirty="0" err="1">
                <a:solidFill>
                  <a:srgbClr val="C00000"/>
                </a:solidFill>
              </a:rPr>
              <a:t>LowerBound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 smtClean="0"/>
              <a:t>	</a:t>
            </a:r>
          </a:p>
          <a:p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the index of the element of which we want to calculate the address</a:t>
            </a:r>
          </a:p>
          <a:p>
            <a:r>
              <a:rPr lang="en-US" b="1" dirty="0">
                <a:solidFill>
                  <a:srgbClr val="C00000"/>
                </a:solidFill>
              </a:rPr>
              <a:t>BA</a:t>
            </a:r>
            <a:r>
              <a:rPr lang="en-US" b="1" dirty="0" smtClean="0"/>
              <a:t> </a:t>
            </a:r>
            <a:r>
              <a:rPr lang="en-US" dirty="0" smtClean="0"/>
              <a:t>is the base address of the array A</a:t>
            </a:r>
          </a:p>
          <a:p>
            <a:r>
              <a:rPr lang="en-US" b="1" dirty="0">
                <a:solidFill>
                  <a:srgbClr val="C00000"/>
                </a:solidFill>
              </a:rPr>
              <a:t>w </a:t>
            </a:r>
            <a:r>
              <a:rPr lang="en-US" dirty="0" smtClean="0"/>
              <a:t>is the size of one element in the memory (in bytes)			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484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5506" y="4204448"/>
            <a:ext cx="6006353" cy="2178424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: </a:t>
            </a:r>
            <a:r>
              <a:rPr lang="en-US" dirty="0"/>
              <a:t>Address calculation of 1-D </a:t>
            </a:r>
            <a:r>
              <a:rPr lang="en-US" dirty="0" smtClean="0"/>
              <a:t>Array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an array int marks[] = {99, 67, 78, 56, 88, 90, 34, 85}, calculate the address of marks[4], if the base address is 1000.</a:t>
            </a:r>
          </a:p>
          <a:p>
            <a:pPr lvl="1"/>
            <a:r>
              <a:rPr lang="en-US" dirty="0" smtClean="0"/>
              <a:t>k = 4</a:t>
            </a:r>
          </a:p>
          <a:p>
            <a:pPr lvl="1"/>
            <a:r>
              <a:rPr lang="en-US" dirty="0" smtClean="0"/>
              <a:t>BA(A) = 1000</a:t>
            </a:r>
          </a:p>
          <a:p>
            <a:pPr lvl="1"/>
            <a:r>
              <a:rPr lang="en-US" dirty="0"/>
              <a:t>Storing an integer value requires 2 bytes. So w=2.</a:t>
            </a:r>
          </a:p>
          <a:p>
            <a:pPr lvl="1"/>
            <a:r>
              <a:rPr lang="en-US" dirty="0" smtClean="0"/>
              <a:t>Lower bound = 0</a:t>
            </a:r>
            <a:endParaRPr lang="en-US" dirty="0"/>
          </a:p>
          <a:p>
            <a:r>
              <a:rPr lang="en-US" dirty="0" smtClean="0"/>
              <a:t>Formula:  </a:t>
            </a:r>
          </a:p>
          <a:p>
            <a:pPr marL="0" indent="287338">
              <a:buNone/>
            </a:pPr>
            <a:r>
              <a:rPr lang="en-US" b="1" dirty="0" smtClean="0"/>
              <a:t>A[k</a:t>
            </a:r>
            <a:r>
              <a:rPr lang="en-US" b="1" dirty="0"/>
              <a:t>] = BA(A) + w(k – </a:t>
            </a:r>
            <a:r>
              <a:rPr lang="en-US" b="1" dirty="0" err="1"/>
              <a:t>LowerBound</a:t>
            </a:r>
            <a:r>
              <a:rPr lang="en-US" b="1" dirty="0" smtClean="0"/>
              <a:t>)</a:t>
            </a:r>
          </a:p>
          <a:p>
            <a:pPr marL="0" indent="287338">
              <a:buNone/>
            </a:pPr>
            <a:r>
              <a:rPr lang="en-US" b="1" dirty="0" smtClean="0"/>
              <a:t>marks[4] = 1000 + 2 (4-0)</a:t>
            </a:r>
          </a:p>
          <a:p>
            <a:pPr marL="0" indent="287338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=  1000 + 8</a:t>
            </a:r>
          </a:p>
          <a:p>
            <a:pPr marL="0" indent="287338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=  1008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682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Dimensional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Although the rectangular picture of two-dimensional array is shown, </a:t>
            </a:r>
            <a:r>
              <a:rPr lang="en-US" b="1" dirty="0">
                <a:solidFill>
                  <a:srgbClr val="C00000"/>
                </a:solidFill>
              </a:rPr>
              <a:t>but in memory these elements will actually be stored in sequential manner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are two ways to store them in memory: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Row major order : </a:t>
            </a:r>
          </a:p>
          <a:p>
            <a:pPr marL="1001712" lvl="1" indent="-457200"/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elements of first row are stored first </a:t>
            </a:r>
            <a:r>
              <a:rPr lang="en-US" dirty="0" smtClean="0"/>
              <a:t>before the elements of second and third rows.</a:t>
            </a:r>
          </a:p>
          <a:p>
            <a:pPr marL="1001712" lvl="1" indent="-457200"/>
            <a:r>
              <a:rPr lang="en-US" dirty="0" smtClean="0"/>
              <a:t>The elements of the array are stored row by row where n elements of the first  row will occupy the first n location.</a:t>
            </a:r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107617"/>
              </p:ext>
            </p:extLst>
          </p:nvPr>
        </p:nvGraphicFramePr>
        <p:xfrm>
          <a:off x="1574800" y="4350372"/>
          <a:ext cx="8127996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(0,0)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(0,1)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(0,2)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(0,3)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(1,0)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(1,1)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(1,2)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(1,3)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(2,0)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(2,1)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(2,2)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(2,3)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Dimensional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smtClean="0"/>
              <a:t>Column major order : </a:t>
            </a:r>
          </a:p>
          <a:p>
            <a:pPr marL="1001712" lvl="1" indent="-457200"/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elements of first column are stored first </a:t>
            </a:r>
            <a:r>
              <a:rPr lang="en-US" dirty="0" smtClean="0"/>
              <a:t>before the elements of second and third column.</a:t>
            </a:r>
          </a:p>
          <a:p>
            <a:pPr marL="1001712" lvl="1" indent="-457200"/>
            <a:r>
              <a:rPr lang="en-US" dirty="0" smtClean="0"/>
              <a:t>The elements of the array are stored column by column where m elements of the first column will occupy first m locations.</a:t>
            </a:r>
          </a:p>
          <a:p>
            <a:pPr marL="1001712" lvl="1" indent="-457200"/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79457"/>
              </p:ext>
            </p:extLst>
          </p:nvPr>
        </p:nvGraphicFramePr>
        <p:xfrm>
          <a:off x="1772029" y="2871184"/>
          <a:ext cx="8127996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(0,0)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(1,0)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(2,0)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(3,0)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(0,1)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(1,1)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(2,1)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(3,1)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(0,2)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(1,2)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(2,2)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(3,2)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70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58144" y="3442445"/>
            <a:ext cx="6966855" cy="582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58144" y="2321857"/>
            <a:ext cx="6966856" cy="582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Dimensional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="1" dirty="0">
                <a:solidFill>
                  <a:srgbClr val="C00000"/>
                </a:solidFill>
              </a:rPr>
              <a:t>2-D</a:t>
            </a:r>
            <a:r>
              <a:rPr lang="en-US" dirty="0" smtClean="0"/>
              <a:t> array also computer stores the base address, and the address of the other elements is calculated using the following formulas.</a:t>
            </a:r>
          </a:p>
          <a:p>
            <a:r>
              <a:rPr lang="en-US" dirty="0" smtClean="0"/>
              <a:t>If the array elements are stored in </a:t>
            </a:r>
            <a:r>
              <a:rPr lang="en-US" b="1" dirty="0">
                <a:solidFill>
                  <a:srgbClr val="C00000"/>
                </a:solidFill>
              </a:rPr>
              <a:t>row-major order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b="1" dirty="0" smtClean="0"/>
              <a:t>Address(A[i][j]) = Base</a:t>
            </a:r>
            <a:r>
              <a:rPr lang="en-US" b="1" dirty="0" smtClean="0">
                <a:latin typeface="Arial Rounded MT Bold" pitchFamily="34" charset="0"/>
              </a:rPr>
              <a:t>_</a:t>
            </a:r>
            <a:r>
              <a:rPr lang="en-US" b="1" dirty="0" smtClean="0"/>
              <a:t>Address + w {N (i-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r</a:t>
            </a:r>
            <a:r>
              <a:rPr lang="en-US" b="1" dirty="0" smtClean="0"/>
              <a:t>) + (j-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c</a:t>
            </a:r>
            <a:r>
              <a:rPr lang="en-US" b="1" dirty="0" smtClean="0"/>
              <a:t>)}</a:t>
            </a:r>
          </a:p>
          <a:p>
            <a:r>
              <a:rPr lang="en-US" dirty="0" smtClean="0"/>
              <a:t>If </a:t>
            </a:r>
            <a:r>
              <a:rPr lang="en-US" dirty="0"/>
              <a:t>the array elements are stored in </a:t>
            </a:r>
            <a:r>
              <a:rPr lang="en-US" b="1" dirty="0">
                <a:solidFill>
                  <a:srgbClr val="C00000"/>
                </a:solidFill>
              </a:rPr>
              <a:t>column-major order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b="1" dirty="0"/>
              <a:t>Address(A[i][j]) = Base</a:t>
            </a:r>
            <a:r>
              <a:rPr lang="en-US" b="1" dirty="0">
                <a:latin typeface="Arial Rounded MT Bold" pitchFamily="34" charset="0"/>
              </a:rPr>
              <a:t>_</a:t>
            </a:r>
            <a:r>
              <a:rPr lang="en-US" b="1" dirty="0"/>
              <a:t>Address + w {(i-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 smtClean="0"/>
              <a:t>) + M (j-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c</a:t>
            </a:r>
            <a:r>
              <a:rPr lang="en-US" b="1" dirty="0" smtClean="0"/>
              <a:t>)}</a:t>
            </a:r>
          </a:p>
          <a:p>
            <a:r>
              <a:rPr lang="en-US" dirty="0" smtClean="0"/>
              <a:t>Where,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w</a:t>
            </a:r>
            <a:r>
              <a:rPr lang="en-US" dirty="0" smtClean="0"/>
              <a:t> = no. of bytes required to store one element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 smtClean="0"/>
              <a:t> = no. of columns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dirty="0" smtClean="0"/>
              <a:t> = no. of rows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 and j </a:t>
            </a:r>
            <a:r>
              <a:rPr lang="en-US" dirty="0" smtClean="0"/>
              <a:t>= subscripts of array element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221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: Address calculation of 2-D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20 x 5 two dimensional array marks which has its base address = 1000 and the size of an element = 2. Now compute the address of the element, marks[18][4] assuming that the elements are stored in row major order. (Assume 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r</a:t>
            </a:r>
            <a:r>
              <a:rPr lang="en-US" b="1" dirty="0" smtClean="0"/>
              <a:t>=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c</a:t>
            </a:r>
            <a:r>
              <a:rPr lang="en-US" b="1" baseline="-25000" dirty="0" smtClean="0"/>
              <a:t> </a:t>
            </a:r>
            <a:r>
              <a:rPr lang="en-US" b="1" dirty="0" smtClean="0"/>
              <a:t>=1)</a:t>
            </a:r>
            <a:endParaRPr lang="en-US" dirty="0" smtClean="0"/>
          </a:p>
          <a:p>
            <a:r>
              <a:rPr lang="en-US" dirty="0" smtClean="0"/>
              <a:t>Here</a:t>
            </a:r>
            <a:r>
              <a:rPr lang="en-US" dirty="0"/>
              <a:t>,</a:t>
            </a:r>
          </a:p>
          <a:p>
            <a:pPr lvl="1"/>
            <a:r>
              <a:rPr lang="en-US" dirty="0" smtClean="0"/>
              <a:t>w=2, N=5, M=20, i=18, j=4, Base</a:t>
            </a:r>
            <a:r>
              <a:rPr lang="en-US" sz="2400" dirty="0">
                <a:latin typeface="Arial Rounded MT Bold" pitchFamily="34" charset="0"/>
              </a:rPr>
              <a:t>_</a:t>
            </a:r>
            <a:r>
              <a:rPr lang="en-US" dirty="0" smtClean="0"/>
              <a:t>Address=1000</a:t>
            </a:r>
            <a:endParaRPr lang="en-US" dirty="0"/>
          </a:p>
          <a:p>
            <a:r>
              <a:rPr lang="en-US" dirty="0" smtClean="0"/>
              <a:t>If the array elements are stored in </a:t>
            </a:r>
            <a:r>
              <a:rPr lang="en-US" b="1" dirty="0" smtClean="0"/>
              <a:t>row-major</a:t>
            </a:r>
            <a:r>
              <a:rPr lang="en-US" dirty="0" smtClean="0"/>
              <a:t> order: </a:t>
            </a:r>
          </a:p>
          <a:p>
            <a:pPr marL="0" indent="0" algn="l">
              <a:buNone/>
            </a:pPr>
            <a:r>
              <a:rPr lang="en-US" b="1" dirty="0" smtClean="0"/>
              <a:t>Address(A[i][j]) = Base</a:t>
            </a:r>
            <a:r>
              <a:rPr lang="en-US" b="1" dirty="0" smtClean="0">
                <a:latin typeface="Arial Rounded MT Bold" pitchFamily="34" charset="0"/>
              </a:rPr>
              <a:t>_</a:t>
            </a:r>
            <a:r>
              <a:rPr lang="en-US" b="1" dirty="0" smtClean="0"/>
              <a:t>Address + w {N (</a:t>
            </a:r>
            <a:r>
              <a:rPr lang="en-US" b="1" dirty="0"/>
              <a:t>i-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 smtClean="0"/>
              <a:t>) + (j-</a:t>
            </a:r>
            <a:r>
              <a:rPr lang="en-US" b="1" dirty="0" err="1" smtClean="0"/>
              <a:t>LB</a:t>
            </a:r>
            <a:r>
              <a:rPr lang="en-US" b="1" baseline="-25000" dirty="0" err="1" smtClean="0"/>
              <a:t>c</a:t>
            </a:r>
            <a:r>
              <a:rPr lang="en-US" b="1" dirty="0" smtClean="0"/>
              <a:t>)}</a:t>
            </a:r>
          </a:p>
          <a:p>
            <a:pPr marL="0" indent="0" algn="l">
              <a:buNone/>
            </a:pPr>
            <a:r>
              <a:rPr lang="en-US" dirty="0" smtClean="0"/>
              <a:t>Address(marks[18][4]) = 1000 + 2 {5(18-1) + (4-1)}</a:t>
            </a:r>
          </a:p>
          <a:p>
            <a:pPr marL="0" indent="0" algn="l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= 1000 + 2 {5(17) + 3}</a:t>
            </a:r>
          </a:p>
          <a:p>
            <a:pPr marL="0" indent="0" algn="l">
              <a:buNone/>
            </a:pPr>
            <a:r>
              <a:rPr lang="en-US" dirty="0"/>
              <a:t>	</a:t>
            </a:r>
            <a:r>
              <a:rPr lang="en-US" dirty="0" smtClean="0"/>
              <a:t>		 = 1000 + 2(88)</a:t>
            </a:r>
          </a:p>
          <a:p>
            <a:pPr marL="0" indent="0" algn="l">
              <a:buNone/>
            </a:pPr>
            <a:r>
              <a:rPr lang="en-US" dirty="0"/>
              <a:t>	</a:t>
            </a:r>
            <a:r>
              <a:rPr lang="en-US" dirty="0" smtClean="0"/>
              <a:t>		 = 1176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627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: </a:t>
            </a:r>
            <a:r>
              <a:rPr lang="en-US" dirty="0"/>
              <a:t>Address calculation of 2-D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15 x 20 two dimensional array A which has its base address = 4000 and the size of an element is 4 bytes. Now compute the address of the element A[10][10], assuming that the elements are stored in row major order and column major order</a:t>
            </a:r>
            <a:r>
              <a:rPr lang="en-US" dirty="0"/>
              <a:t>. (Assume 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/>
              <a:t>=</a:t>
            </a:r>
            <a:r>
              <a:rPr lang="en-US" b="1" dirty="0" err="1"/>
              <a:t>LB</a:t>
            </a:r>
            <a:r>
              <a:rPr lang="en-US" b="1" baseline="-25000" dirty="0" err="1"/>
              <a:t>c</a:t>
            </a:r>
            <a:r>
              <a:rPr lang="en-US" b="1" baseline="-25000" dirty="0"/>
              <a:t> </a:t>
            </a:r>
            <a:r>
              <a:rPr lang="en-US" b="1" dirty="0"/>
              <a:t>=1)</a:t>
            </a:r>
            <a:endParaRPr lang="en-US" dirty="0"/>
          </a:p>
          <a:p>
            <a:endParaRPr lang="en-US" dirty="0" smtClean="0"/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36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</a:t>
            </a:r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Symbol </a:t>
            </a:r>
            <a:r>
              <a:rPr lang="en-US" dirty="0"/>
              <a:t>Manipulation (matrix representation of polynomial equation)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Sparse Matrix</a:t>
            </a:r>
          </a:p>
          <a:p>
            <a:endParaRPr lang="en-US" dirty="0" smtClean="0"/>
          </a:p>
          <a:p>
            <a:r>
              <a:rPr lang="en-US" dirty="0" smtClean="0"/>
              <a:t>Matrix </a:t>
            </a:r>
            <a:r>
              <a:rPr lang="en-US" dirty="0"/>
              <a:t>representation of polynomial </a:t>
            </a:r>
            <a:r>
              <a:rPr lang="en-US" dirty="0" smtClean="0"/>
              <a:t>equation</a:t>
            </a:r>
          </a:p>
          <a:p>
            <a:pPr lvl="1"/>
            <a:r>
              <a:rPr lang="en-IN" dirty="0"/>
              <a:t>We can use array for different kind of operations in polynomial </a:t>
            </a:r>
            <a:r>
              <a:rPr lang="en-IN" dirty="0" smtClean="0"/>
              <a:t>equation </a:t>
            </a:r>
            <a:r>
              <a:rPr lang="en-IN" dirty="0"/>
              <a:t>such as addition, subtraction, division, differentiation etc…</a:t>
            </a:r>
          </a:p>
          <a:p>
            <a:pPr lvl="1"/>
            <a:r>
              <a:rPr lang="en-IN" dirty="0"/>
              <a:t>We are interested in finding suitable representation for polynomial so that different operations like addition, subtraction etc… can be performed in efficient </a:t>
            </a:r>
            <a:r>
              <a:rPr lang="en-IN" dirty="0" smtClean="0"/>
              <a:t>manner.</a:t>
            </a:r>
            <a:endParaRPr lang="en-IN" dirty="0"/>
          </a:p>
          <a:p>
            <a:pPr lvl="1"/>
            <a:r>
              <a:rPr lang="en-IN" dirty="0"/>
              <a:t>Array can be used to represent Polynomial </a:t>
            </a:r>
            <a:r>
              <a:rPr lang="en-IN" dirty="0" smtClean="0"/>
              <a:t>equation.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55006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88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0191455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Representation </a:t>
            </a:r>
            <a:r>
              <a:rPr lang="en-IN" dirty="0"/>
              <a:t>of Polynomial equation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668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solidFill>
                  <a:prstClr val="black"/>
                </a:solidFill>
                <a:latin typeface="Calibri"/>
              </a:rPr>
              <a:t>2X</a:t>
            </a:r>
            <a:r>
              <a:rPr lang="en-IN" b="1" baseline="30000" dirty="0" smtClean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 smtClean="0">
                <a:solidFill>
                  <a:prstClr val="black"/>
                </a:solidFill>
                <a:latin typeface="Calibri"/>
              </a:rPr>
              <a:t> + 5XY + Y</a:t>
            </a:r>
            <a:r>
              <a:rPr lang="en-IN" b="1" baseline="30000" dirty="0" smtClean="0">
                <a:solidFill>
                  <a:prstClr val="black"/>
                </a:solidFill>
                <a:latin typeface="Calibri"/>
              </a:rPr>
              <a:t>2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12334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70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9224062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baseline="0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 smtClean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 smtClean="0"/>
                          <a:t>0</a:t>
                        </a:r>
                        <a:endParaRPr lang="en-US" baseline="0" dirty="0"/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40" name="TextBox 39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1811868" y="4711397"/>
            <a:ext cx="738000" cy="37248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71494" y="435078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5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312095" y="398272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626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solidFill>
                  <a:prstClr val="black"/>
                </a:solidFill>
                <a:latin typeface="Calibri"/>
              </a:rPr>
              <a:t>X</a:t>
            </a:r>
            <a:r>
              <a:rPr lang="en-IN" b="1" baseline="30000" dirty="0" smtClean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 smtClean="0">
                <a:solidFill>
                  <a:prstClr val="black"/>
                </a:solidFill>
                <a:latin typeface="Calibri"/>
              </a:rPr>
              <a:t> + 3XY + Y</a:t>
            </a:r>
            <a:r>
              <a:rPr lang="en-IN" b="1" baseline="30000" dirty="0" smtClean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 smtClean="0">
                <a:solidFill>
                  <a:prstClr val="black"/>
                </a:solidFill>
                <a:latin typeface="Calibri"/>
              </a:rPr>
              <a:t>+Y-X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86538" y="4699522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34453" y="4338859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3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582088" y="3963678"/>
            <a:ext cx="738000" cy="347669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37392" y="396367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86538" y="433992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-1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6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803028"/>
              </p:ext>
            </p:extLst>
          </p:nvPr>
        </p:nvGraphicFramePr>
        <p:xfrm>
          <a:off x="3946207" y="927530"/>
          <a:ext cx="3697200" cy="1854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XY</a:t>
                      </a:r>
                      <a:r>
                        <a:rPr lang="en-IN" baseline="30000" dirty="0" smtClean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XY</a:t>
                      </a:r>
                      <a:r>
                        <a:rPr lang="en-IN" baseline="30000" dirty="0" smtClean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XY</a:t>
                      </a:r>
                      <a:r>
                        <a:rPr lang="en-IN" baseline="30000" dirty="0" smtClean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r>
                        <a:rPr lang="en-IN" dirty="0" smtClean="0"/>
                        <a:t>Y</a:t>
                      </a:r>
                      <a:endParaRPr lang="en-US" baseline="3000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2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2</a:t>
                      </a:r>
                      <a:endParaRPr lang="en-US" baseline="3000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2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3</a:t>
                      </a:r>
                      <a:endParaRPr lang="en-US" baseline="3000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2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4</a:t>
                      </a:r>
                      <a:endParaRPr lang="en-US" baseline="30000" dirty="0" smtClean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r>
                        <a:rPr lang="en-IN" dirty="0" smtClean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3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4</a:t>
                      </a:r>
                      <a:r>
                        <a:rPr lang="en-IN" dirty="0" smtClean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4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4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30000" dirty="0" smtClean="0"/>
                        <a:t>4</a:t>
                      </a:r>
                      <a:r>
                        <a:rPr lang="en-IN" dirty="0" smtClean="0"/>
                        <a:t>Y</a:t>
                      </a:r>
                      <a:r>
                        <a:rPr lang="en-IN" baseline="30000" dirty="0" smtClean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03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8" grpId="0" animBg="1"/>
      <p:bldP spid="49" grpId="0" animBg="1"/>
      <p:bldP spid="50" grpId="0" animBg="1"/>
      <p:bldP spid="51" grpId="0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Sparse </a:t>
            </a:r>
            <a:r>
              <a:rPr lang="en-US" dirty="0"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</a:t>
            </a:r>
            <a:r>
              <a:rPr lang="en-IN" dirty="0" smtClean="0"/>
              <a:t>n m x n </a:t>
            </a:r>
            <a:r>
              <a:rPr lang="en-IN" dirty="0"/>
              <a:t>matrix is said to be </a:t>
            </a:r>
            <a:r>
              <a:rPr lang="en-IN" b="1" i="1" dirty="0">
                <a:solidFill>
                  <a:srgbClr val="C00000"/>
                </a:solidFill>
              </a:rPr>
              <a:t>sparse</a:t>
            </a:r>
            <a:r>
              <a:rPr lang="en-IN" dirty="0"/>
              <a:t> if “many” of its elements are zero.</a:t>
            </a:r>
          </a:p>
          <a:p>
            <a:r>
              <a:rPr lang="en-IN" dirty="0" smtClean="0"/>
              <a:t>A </a:t>
            </a:r>
            <a:r>
              <a:rPr lang="en-IN" dirty="0"/>
              <a:t>matrix that is not sparse is called a </a:t>
            </a:r>
            <a:r>
              <a:rPr lang="en-IN" b="1" i="1" dirty="0">
                <a:solidFill>
                  <a:srgbClr val="C00000"/>
                </a:solidFill>
              </a:rPr>
              <a:t>dense matrix</a:t>
            </a:r>
            <a:r>
              <a:rPr lang="en-IN" dirty="0"/>
              <a:t>.</a:t>
            </a:r>
          </a:p>
          <a:p>
            <a:r>
              <a:rPr lang="en-IN" dirty="0" smtClean="0"/>
              <a:t>We </a:t>
            </a:r>
            <a:r>
              <a:rPr lang="en-IN" dirty="0"/>
              <a:t>can device a simple representation scheme whose space requirement equals the size of the non-zero elements.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514600" y="4114800"/>
          <a:ext cx="1936816" cy="1524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12986"/>
              </p:ext>
            </p:extLst>
          </p:nvPr>
        </p:nvGraphicFramePr>
        <p:xfrm>
          <a:off x="4845370" y="4106104"/>
          <a:ext cx="5517830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7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Terms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Row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Column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Value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1676400" y="2945010"/>
            <a:ext cx="3276600" cy="3063123"/>
            <a:chOff x="152400" y="2945009"/>
            <a:chExt cx="3276600" cy="3063123"/>
          </a:xfrm>
        </p:grpSpPr>
        <p:sp>
          <p:nvSpPr>
            <p:cNvPr id="5" name="Double Bracket 4"/>
            <p:cNvSpPr/>
            <p:nvPr/>
          </p:nvSpPr>
          <p:spPr>
            <a:xfrm>
              <a:off x="914400" y="4038600"/>
              <a:ext cx="2057400" cy="1752600"/>
            </a:xfrm>
            <a:prstGeom prst="bracketPair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19400" y="5638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4x8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400" y="4172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400" y="4553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2400" y="4934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00" y="5315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65578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133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22778" y="2963334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705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- 5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99102" y="2960511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- 6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277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- 7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56302" y="2945009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- 8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410200" y="549806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Linear Representation of given matrix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0" y="41038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3242332" y="4202372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43600" y="44126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936166" y="47003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0" y="500875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34253" y="4104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9" name="Oval 28"/>
          <p:cNvSpPr/>
          <p:nvPr/>
        </p:nvSpPr>
        <p:spPr>
          <a:xfrm>
            <a:off x="3973666" y="4205869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437970" y="441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426819" y="4700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30536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6923049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4" name="Oval 33"/>
          <p:cNvSpPr/>
          <p:nvPr/>
        </p:nvSpPr>
        <p:spPr>
          <a:xfrm>
            <a:off x="2761785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923049" y="4420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926766" y="47002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923049" y="5010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424853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39" name="Oval 38"/>
          <p:cNvSpPr/>
          <p:nvPr/>
        </p:nvSpPr>
        <p:spPr>
          <a:xfrm>
            <a:off x="3490447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421136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7421136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7421136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7917366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44" name="Oval 43"/>
          <p:cNvSpPr/>
          <p:nvPr/>
        </p:nvSpPr>
        <p:spPr>
          <a:xfrm>
            <a:off x="4207843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91364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913649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913649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8409879" y="41000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50" name="Oval 49"/>
          <p:cNvSpPr/>
          <p:nvPr/>
        </p:nvSpPr>
        <p:spPr>
          <a:xfrm>
            <a:off x="3243147" y="4960435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40987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840616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406162" y="50148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9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8904249" y="41004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5" name="Oval 54"/>
          <p:cNvSpPr/>
          <p:nvPr/>
        </p:nvSpPr>
        <p:spPr>
          <a:xfrm>
            <a:off x="3722764" y="495693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890053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90053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8896815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9394902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2761785" y="5352586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939490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394902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391185" y="50180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9883698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3007228" y="5364910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9887415" y="4412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9887415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9887415" y="50185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171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/>
      <p:bldP spid="50" grpId="0" animBg="1"/>
      <p:bldP spid="51" grpId="0"/>
      <p:bldP spid="52" grpId="0"/>
      <p:bldP spid="53" grpId="0"/>
      <p:bldP spid="54" grpId="0"/>
      <p:bldP spid="55" grpId="0" animBg="1"/>
      <p:bldP spid="56" grpId="0"/>
      <p:bldP spid="57" grpId="0"/>
      <p:bldP spid="58" grpId="0"/>
      <p:bldP spid="59" grpId="0"/>
      <p:bldP spid="60" grpId="0" animBg="1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matrix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635686"/>
              </p:ext>
            </p:extLst>
          </p:nvPr>
        </p:nvGraphicFramePr>
        <p:xfrm>
          <a:off x="1347671" y="1198688"/>
          <a:ext cx="3222173" cy="21031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8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9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7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8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12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92666"/>
              </p:ext>
            </p:extLst>
          </p:nvPr>
        </p:nvGraphicFramePr>
        <p:xfrm>
          <a:off x="5399314" y="1338948"/>
          <a:ext cx="990600" cy="44196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Row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879276"/>
              </p:ext>
            </p:extLst>
          </p:nvPr>
        </p:nvGraphicFramePr>
        <p:xfrm>
          <a:off x="6847114" y="1338948"/>
          <a:ext cx="990600" cy="44196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Column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186640"/>
              </p:ext>
            </p:extLst>
          </p:nvPr>
        </p:nvGraphicFramePr>
        <p:xfrm>
          <a:off x="8294914" y="1338948"/>
          <a:ext cx="990600" cy="441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1043768" y="707240"/>
            <a:ext cx="4059476" cy="2797338"/>
            <a:chOff x="-3132688" y="504596"/>
            <a:chExt cx="4059476" cy="2797338"/>
          </a:xfrm>
        </p:grpSpPr>
        <p:sp>
          <p:nvSpPr>
            <p:cNvPr id="5" name="Double Bracket 4"/>
            <p:cNvSpPr/>
            <p:nvPr/>
          </p:nvSpPr>
          <p:spPr>
            <a:xfrm>
              <a:off x="-2823780" y="826457"/>
              <a:ext cx="3227027" cy="2364331"/>
            </a:xfrm>
            <a:prstGeom prst="bracketPair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17188" y="293260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6x7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-3132688" y="1008971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3132688" y="1350647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3132688" y="1692323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3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flipH="1">
              <a:off x="-3132688" y="2033999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4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-3132688" y="2375675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5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3132688" y="2717352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6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2709040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2219167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1742233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3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1248097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4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817172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5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386246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6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388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7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99185" y="3641350"/>
            <a:ext cx="3581400" cy="1351020"/>
            <a:chOff x="0" y="3124200"/>
            <a:chExt cx="3581400" cy="1447800"/>
          </a:xfrm>
        </p:grpSpPr>
        <p:sp>
          <p:nvSpPr>
            <p:cNvPr id="25" name="Rectangle 24"/>
            <p:cNvSpPr/>
            <p:nvPr/>
          </p:nvSpPr>
          <p:spPr>
            <a:xfrm>
              <a:off x="152400" y="3124200"/>
              <a:ext cx="3352800" cy="1447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0" y="3133383"/>
              <a:ext cx="3581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Memory Space required to store </a:t>
              </a:r>
            </a:p>
            <a:p>
              <a:pPr algn="ctr"/>
              <a:r>
                <a:rPr lang="en-IN" dirty="0">
                  <a:solidFill>
                    <a:schemeClr val="bg1"/>
                  </a:solidFill>
                </a:rPr>
                <a:t>6x7 matrix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1000" y="3971583"/>
              <a:ext cx="2819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42 x 2  = 84 bytes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7" name="Straight Arrow Connector 26"/>
          <p:cNvCxnSpPr>
            <a:stCxn id="25" idx="0"/>
          </p:cNvCxnSpPr>
          <p:nvPr/>
        </p:nvCxnSpPr>
        <p:spPr>
          <a:xfrm flipV="1">
            <a:off x="2927985" y="3336551"/>
            <a:ext cx="0" cy="30479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116348" y="5098642"/>
            <a:ext cx="3581400" cy="1288394"/>
            <a:chOff x="457200" y="4909454"/>
            <a:chExt cx="3581400" cy="1447800"/>
          </a:xfrm>
        </p:grpSpPr>
        <p:sp>
          <p:nvSpPr>
            <p:cNvPr id="28" name="Rectangle 27"/>
            <p:cNvSpPr/>
            <p:nvPr/>
          </p:nvSpPr>
          <p:spPr>
            <a:xfrm>
              <a:off x="609600" y="4909454"/>
              <a:ext cx="3352800" cy="1447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7200" y="5025123"/>
              <a:ext cx="3581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Memory Space required to store </a:t>
              </a:r>
            </a:p>
            <a:p>
              <a:pPr algn="ctr"/>
              <a:r>
                <a:rPr lang="en-IN" dirty="0">
                  <a:solidFill>
                    <a:schemeClr val="bg1"/>
                  </a:solidFill>
                </a:rPr>
                <a:t>Linear Representation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6428" y="5747654"/>
              <a:ext cx="2819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30 x 2  = 60 bytes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780315" y="914400"/>
            <a:ext cx="3179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Linear representation of Matrix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391490" y="1879578"/>
            <a:ext cx="754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A =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426802" y="121732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3993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8471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82949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6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324652" y="121732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399314" y="215660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6847114" y="215660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8294914" y="21452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9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1451924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399314" y="255502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6847114" y="255629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8294914" y="255629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2899544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399314" y="295471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6847114" y="29489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294914" y="29489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7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3324652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53993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68471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2949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8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4184898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399314" y="37684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847114" y="37684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8294914" y="376272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1451924" y="193313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399314" y="41681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6847114" y="41681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8294914" y="415666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10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2426802" y="2260651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399314" y="456066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6847114" y="457791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8294914" y="4566415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12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2899544" y="2935123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53993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68471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82949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4184898" y="2935123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5399314" y="53686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6847114" y="536419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8294914" y="536292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5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399314" y="5886290"/>
            <a:ext cx="3886200" cy="5007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Space Saved = 84 – 60 = 24 bytes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6361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 animBg="1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4" grpId="0" animBg="1"/>
      <p:bldP spid="55" grpId="0"/>
      <p:bldP spid="56" grpId="0"/>
      <p:bldP spid="57" grpId="0"/>
      <p:bldP spid="58" grpId="0" animBg="1"/>
      <p:bldP spid="59" grpId="0"/>
      <p:bldP spid="60" grpId="0"/>
      <p:bldP spid="61" grpId="0"/>
      <p:bldP spid="62" grpId="0" animBg="1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 animBg="1"/>
      <p:bldP spid="75" grpId="0"/>
      <p:bldP spid="76" grpId="0"/>
      <p:bldP spid="77" grpId="0"/>
      <p:bldP spid="7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variable in c language has a name and a value associated with it. When a variable is declared, a specific block of memory within the computer is allocated to hold the value of that variable. </a:t>
            </a:r>
          </a:p>
          <a:p>
            <a:r>
              <a:rPr lang="en-US" dirty="0"/>
              <a:t>The size of the allocated block depends on the type of the data. </a:t>
            </a:r>
          </a:p>
          <a:p>
            <a:r>
              <a:rPr lang="en-US" dirty="0" smtClean="0"/>
              <a:t>A  Pointer  </a:t>
            </a:r>
            <a:r>
              <a:rPr lang="en-US" b="1" dirty="0">
                <a:solidFill>
                  <a:srgbClr val="C00000"/>
                </a:solidFill>
              </a:rPr>
              <a:t>is  a  variable  that  points  to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 </a:t>
            </a:r>
            <a:r>
              <a:rPr lang="en-US" b="1" dirty="0">
                <a:solidFill>
                  <a:srgbClr val="C00000"/>
                </a:solidFill>
              </a:rPr>
              <a:t>references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 a  memory location in which data is stored. </a:t>
            </a:r>
            <a:endParaRPr lang="en-US" dirty="0" smtClean="0"/>
          </a:p>
          <a:p>
            <a:r>
              <a:rPr lang="en-US" dirty="0"/>
              <a:t>A pointer is declared using the indirection (*) operator. </a:t>
            </a:r>
          </a:p>
          <a:p>
            <a:r>
              <a:rPr lang="en-US" dirty="0"/>
              <a:t>General declaration of a pointer is:</a:t>
            </a:r>
          </a:p>
          <a:p>
            <a:pPr lvl="1"/>
            <a:r>
              <a:rPr lang="en-US" b="1" dirty="0" smtClean="0"/>
              <a:t>data-type </a:t>
            </a:r>
            <a:r>
              <a:rPr lang="en-US" b="1" dirty="0"/>
              <a:t>*pointer-name</a:t>
            </a:r>
            <a:r>
              <a:rPr lang="en-US" b="1" dirty="0" smtClean="0"/>
              <a:t>;</a:t>
            </a:r>
          </a:p>
          <a:p>
            <a:r>
              <a:rPr lang="en-US" dirty="0"/>
              <a:t>Since a pointer is a variable, its value is also stored in another memory location</a:t>
            </a:r>
            <a:r>
              <a:rPr lang="en-US" dirty="0" smtClean="0"/>
              <a:t>. So in </a:t>
            </a:r>
            <a:r>
              <a:rPr lang="en-US" dirty="0"/>
              <a:t>computation even the address of the pointer can be used.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1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5412" y="2850774"/>
            <a:ext cx="2008094" cy="8964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  location   of   a   variable  in   memory   is   system   dependent   and therefore the address of a variable is not known directly.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/>
              <a:t>address operator (&amp;) </a:t>
            </a:r>
            <a:r>
              <a:rPr lang="en-US" dirty="0" smtClean="0"/>
              <a:t>allows </a:t>
            </a:r>
            <a:r>
              <a:rPr lang="en-US" dirty="0"/>
              <a:t>us to retrieve the address from a variable associated with it</a:t>
            </a:r>
            <a:r>
              <a:rPr lang="en-US" dirty="0" smtClean="0"/>
              <a:t>.</a:t>
            </a:r>
          </a:p>
          <a:p>
            <a:r>
              <a:rPr lang="en-US" dirty="0"/>
              <a:t>For Example :</a:t>
            </a:r>
          </a:p>
          <a:p>
            <a:pPr indent="882650" algn="l">
              <a:lnSpc>
                <a:spcPts val="2100"/>
              </a:lnSpc>
              <a:buNone/>
              <a:tabLst>
                <a:tab pos="25400" algn="l"/>
              </a:tabLst>
            </a:pPr>
            <a:r>
              <a:rPr lang="en-US" altLang="zh-CN" b="1" dirty="0"/>
              <a:t>int  *p , x = 5;</a:t>
            </a:r>
          </a:p>
          <a:p>
            <a:pPr indent="882650" algn="l">
              <a:lnSpc>
                <a:spcPts val="2600"/>
              </a:lnSpc>
              <a:buNone/>
              <a:tabLst>
                <a:tab pos="25400" algn="l"/>
              </a:tabLst>
            </a:pPr>
            <a:r>
              <a:rPr lang="en-US" altLang="zh-CN" b="1" dirty="0"/>
              <a:t>p  = &amp;x;</a:t>
            </a:r>
          </a:p>
          <a:p>
            <a:r>
              <a:rPr lang="en-US" dirty="0"/>
              <a:t>An operator (*) is also called the value at address operator. It returns the value stored at the particular address.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37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Memory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process of allocating memory to the </a:t>
            </a:r>
            <a:r>
              <a:rPr lang="en-US" dirty="0" smtClean="0"/>
              <a:t>variables </a:t>
            </a:r>
            <a:r>
              <a:rPr lang="en-US" b="1" dirty="0" smtClean="0"/>
              <a:t>during </a:t>
            </a:r>
            <a:r>
              <a:rPr lang="en-US" b="1" dirty="0"/>
              <a:t>execution of the program </a:t>
            </a:r>
            <a:r>
              <a:rPr lang="en-US" dirty="0"/>
              <a:t>or </a:t>
            </a:r>
            <a:r>
              <a:rPr lang="en-US" b="1" dirty="0"/>
              <a:t>at run time</a:t>
            </a:r>
            <a:r>
              <a:rPr lang="en-US" dirty="0"/>
              <a:t> is known  as dynamic memory allocation</a:t>
            </a:r>
            <a:r>
              <a:rPr lang="en-US" dirty="0" smtClean="0"/>
              <a:t>.</a:t>
            </a:r>
          </a:p>
          <a:p>
            <a:r>
              <a:rPr lang="en-US" dirty="0"/>
              <a:t>The size of array </a:t>
            </a:r>
            <a:r>
              <a:rPr lang="en-US" dirty="0" smtClean="0"/>
              <a:t>declared </a:t>
            </a:r>
            <a:r>
              <a:rPr lang="en-US" dirty="0"/>
              <a:t>initially can be </a:t>
            </a:r>
            <a:r>
              <a:rPr lang="en-US" dirty="0" smtClean="0"/>
              <a:t>sometimes </a:t>
            </a:r>
            <a:r>
              <a:rPr lang="en-US" dirty="0"/>
              <a:t>insufficient and sometimes more than  required</a:t>
            </a:r>
            <a:r>
              <a:rPr lang="en-US" dirty="0" smtClean="0"/>
              <a:t>.</a:t>
            </a:r>
          </a:p>
          <a:p>
            <a:r>
              <a:rPr lang="en-US" dirty="0"/>
              <a:t>Dynamic memory allocation allows a program to </a:t>
            </a:r>
            <a:r>
              <a:rPr lang="en-US" dirty="0" smtClean="0"/>
              <a:t>obtain more </a:t>
            </a:r>
            <a:r>
              <a:rPr lang="en-US" dirty="0"/>
              <a:t>memory space, while running or to release </a:t>
            </a:r>
            <a:r>
              <a:rPr lang="en-US" dirty="0" smtClean="0"/>
              <a:t>space when </a:t>
            </a:r>
            <a:r>
              <a:rPr lang="en-US" dirty="0"/>
              <a:t>no space </a:t>
            </a:r>
            <a:r>
              <a:rPr lang="en-US" dirty="0" smtClean="0"/>
              <a:t>is required.</a:t>
            </a:r>
          </a:p>
          <a:p>
            <a:r>
              <a:rPr lang="en-US" dirty="0"/>
              <a:t>There are 4 library functions under </a:t>
            </a:r>
            <a:r>
              <a:rPr lang="en-US" b="1" dirty="0" err="1" smtClean="0"/>
              <a:t>stdlib.h</a:t>
            </a:r>
            <a:r>
              <a:rPr lang="en-US" b="1" dirty="0" smtClean="0"/>
              <a:t> </a:t>
            </a:r>
            <a:r>
              <a:rPr lang="en-US" dirty="0"/>
              <a:t>for  dynamic memory </a:t>
            </a:r>
            <a:r>
              <a:rPr lang="en-US" dirty="0" smtClean="0"/>
              <a:t>allocation: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malloc</a:t>
            </a:r>
            <a:r>
              <a:rPr lang="en-US" dirty="0" smtClean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calloc</a:t>
            </a:r>
            <a:r>
              <a:rPr lang="en-US" dirty="0" smtClean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free()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realloc</a:t>
            </a:r>
            <a:r>
              <a:rPr lang="en-US" dirty="0" smtClean="0"/>
              <a:t>()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8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malloc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name </a:t>
            </a:r>
            <a:r>
              <a:rPr lang="en-US" b="1" dirty="0" err="1"/>
              <a:t>malloc</a:t>
            </a:r>
            <a:r>
              <a:rPr lang="en-US" dirty="0"/>
              <a:t> stands for "</a:t>
            </a:r>
            <a:r>
              <a:rPr lang="en-US" b="1" dirty="0"/>
              <a:t>memory allocation</a:t>
            </a:r>
            <a:r>
              <a:rPr lang="en-US" dirty="0"/>
              <a:t>".</a:t>
            </a:r>
          </a:p>
          <a:p>
            <a:r>
              <a:rPr lang="en-US" dirty="0"/>
              <a:t>The function </a:t>
            </a:r>
            <a:r>
              <a:rPr lang="en-US" dirty="0" err="1"/>
              <a:t>malloc</a:t>
            </a:r>
            <a:r>
              <a:rPr lang="en-US" dirty="0"/>
              <a:t>() </a:t>
            </a:r>
            <a:r>
              <a:rPr lang="en-US" b="1" dirty="0"/>
              <a:t>reserves a block of memory of </a:t>
            </a:r>
            <a:r>
              <a:rPr lang="en-US" b="1" dirty="0" smtClean="0"/>
              <a:t>specified </a:t>
            </a:r>
            <a:r>
              <a:rPr lang="en-US" b="1" dirty="0"/>
              <a:t>size </a:t>
            </a:r>
            <a:r>
              <a:rPr lang="en-US" dirty="0"/>
              <a:t>and </a:t>
            </a:r>
            <a:r>
              <a:rPr lang="en-US" b="1" dirty="0" smtClean="0"/>
              <a:t>returns </a:t>
            </a:r>
            <a:r>
              <a:rPr lang="en-US" b="1" dirty="0"/>
              <a:t>a pointer of type void</a:t>
            </a:r>
            <a:r>
              <a:rPr lang="en-US" dirty="0"/>
              <a:t> which </a:t>
            </a:r>
            <a:r>
              <a:rPr lang="en-US" b="1" dirty="0" smtClean="0"/>
              <a:t>can be </a:t>
            </a:r>
            <a:r>
              <a:rPr lang="en-US" b="1" dirty="0"/>
              <a:t>casted into pointer of any form</a:t>
            </a:r>
            <a:r>
              <a:rPr lang="en-US" dirty="0"/>
              <a:t>.</a:t>
            </a:r>
          </a:p>
          <a:p>
            <a:r>
              <a:rPr lang="en-US" dirty="0"/>
              <a:t>Syntax of </a:t>
            </a:r>
            <a:r>
              <a:rPr lang="en-US" dirty="0" err="1"/>
              <a:t>malloc</a:t>
            </a:r>
            <a:r>
              <a:rPr lang="en-US" dirty="0" smtClean="0"/>
              <a:t>():</a:t>
            </a:r>
            <a:endParaRPr lang="en-US" dirty="0"/>
          </a:p>
          <a:p>
            <a:pPr marL="0" indent="0" algn="ctr">
              <a:buNone/>
            </a:pPr>
            <a:r>
              <a:rPr lang="en-US" b="1" dirty="0" smtClean="0"/>
              <a:t>ptr</a:t>
            </a:r>
            <a:r>
              <a:rPr lang="en-US" b="1" dirty="0"/>
              <a:t>=(cast-type*)</a:t>
            </a:r>
            <a:r>
              <a:rPr lang="en-US" b="1" dirty="0" err="1"/>
              <a:t>malloc</a:t>
            </a:r>
            <a:r>
              <a:rPr lang="en-US" b="1" dirty="0"/>
              <a:t>(byte-size)</a:t>
            </a:r>
          </a:p>
          <a:p>
            <a:r>
              <a:rPr lang="en-US" dirty="0"/>
              <a:t>Here, ptr is pointer of cast-type.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space is insufficient, allocation fails and returns NULL  pointer.</a:t>
            </a:r>
          </a:p>
          <a:p>
            <a:r>
              <a:rPr lang="en-US" dirty="0"/>
              <a:t>For </a:t>
            </a:r>
            <a:r>
              <a:rPr lang="en-US" dirty="0" smtClean="0"/>
              <a:t>Example:</a:t>
            </a:r>
          </a:p>
          <a:p>
            <a:pPr marL="0" indent="3657600">
              <a:buNone/>
            </a:pPr>
            <a:r>
              <a:rPr lang="en-US" b="1" dirty="0" smtClean="0"/>
              <a:t>int *ptr;</a:t>
            </a:r>
            <a:endParaRPr lang="en-US" b="1" dirty="0"/>
          </a:p>
          <a:p>
            <a:pPr marL="0" indent="3657600">
              <a:buNone/>
            </a:pPr>
            <a:r>
              <a:rPr lang="en-US" b="1" dirty="0"/>
              <a:t>ptr=(int*)</a:t>
            </a:r>
            <a:r>
              <a:rPr lang="en-US" b="1" dirty="0" err="1"/>
              <a:t>malloc</a:t>
            </a:r>
            <a:r>
              <a:rPr lang="en-US" b="1" dirty="0"/>
              <a:t>(100*</a:t>
            </a:r>
            <a:r>
              <a:rPr lang="en-US" b="1" dirty="0" err="1"/>
              <a:t>sizeof</a:t>
            </a:r>
            <a:r>
              <a:rPr lang="en-US" b="1" dirty="0"/>
              <a:t>(int));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80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</a:t>
            </a:r>
            <a:r>
              <a:rPr lang="en-US" dirty="0" err="1" smtClean="0"/>
              <a:t>alloc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name </a:t>
            </a:r>
            <a:r>
              <a:rPr lang="en-US" dirty="0" err="1"/>
              <a:t>calloc</a:t>
            </a:r>
            <a:r>
              <a:rPr lang="en-US" dirty="0"/>
              <a:t> stands for "contiguous </a:t>
            </a:r>
            <a:r>
              <a:rPr lang="en-US" dirty="0" smtClean="0"/>
              <a:t>allocation”.</a:t>
            </a:r>
          </a:p>
          <a:p>
            <a:r>
              <a:rPr lang="en-US" dirty="0"/>
              <a:t>The only difference between </a:t>
            </a:r>
            <a:r>
              <a:rPr lang="en-US" dirty="0" err="1"/>
              <a:t>malloc</a:t>
            </a:r>
            <a:r>
              <a:rPr lang="en-US" dirty="0"/>
              <a:t>() and </a:t>
            </a:r>
            <a:r>
              <a:rPr lang="en-US" dirty="0" err="1"/>
              <a:t>calloc</a:t>
            </a:r>
            <a:r>
              <a:rPr lang="en-US" dirty="0"/>
              <a:t>() is that, </a:t>
            </a:r>
            <a:r>
              <a:rPr lang="en-US" dirty="0" err="1"/>
              <a:t>malloc</a:t>
            </a:r>
            <a:r>
              <a:rPr lang="en-US" dirty="0"/>
              <a:t>()  allocates single block of memory whereas </a:t>
            </a:r>
            <a:r>
              <a:rPr lang="en-US" dirty="0" err="1"/>
              <a:t>calloc</a:t>
            </a:r>
            <a:r>
              <a:rPr lang="en-US" dirty="0"/>
              <a:t>() allocates  multiple blocks of memory each of same size and sets all bytes to  zero.</a:t>
            </a:r>
          </a:p>
          <a:p>
            <a:r>
              <a:rPr lang="en-US" dirty="0" smtClean="0"/>
              <a:t>Syntax </a:t>
            </a:r>
            <a:r>
              <a:rPr lang="en-US" dirty="0"/>
              <a:t>of </a:t>
            </a:r>
            <a:r>
              <a:rPr lang="en-US" dirty="0" err="1" smtClean="0"/>
              <a:t>calloc</a:t>
            </a:r>
            <a:r>
              <a:rPr lang="en-US" dirty="0" smtClean="0"/>
              <a:t>():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ptr=(cast-type*)</a:t>
            </a:r>
            <a:r>
              <a:rPr lang="en-US" b="1" dirty="0" err="1"/>
              <a:t>calloc</a:t>
            </a:r>
            <a:r>
              <a:rPr lang="en-US" b="1" dirty="0"/>
              <a:t>(</a:t>
            </a:r>
            <a:r>
              <a:rPr lang="en-US" b="1" dirty="0" err="1"/>
              <a:t>n,element</a:t>
            </a:r>
            <a:r>
              <a:rPr lang="en-US" b="1" dirty="0"/>
              <a:t>-size);</a:t>
            </a:r>
          </a:p>
          <a:p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marL="0" indent="3316288">
              <a:buNone/>
            </a:pPr>
            <a:r>
              <a:rPr lang="en-US" b="1" dirty="0"/>
              <a:t>f</a:t>
            </a:r>
            <a:r>
              <a:rPr lang="en-US" b="1" dirty="0" smtClean="0"/>
              <a:t>loat *ptr;</a:t>
            </a:r>
          </a:p>
          <a:p>
            <a:pPr marL="0" indent="3316288">
              <a:buNone/>
            </a:pPr>
            <a:r>
              <a:rPr lang="en-US" b="1" dirty="0" smtClean="0"/>
              <a:t>ptr</a:t>
            </a:r>
            <a:r>
              <a:rPr lang="en-US" b="1" dirty="0"/>
              <a:t>=(float*)</a:t>
            </a:r>
            <a:r>
              <a:rPr lang="en-US" b="1" dirty="0" err="1"/>
              <a:t>calloc</a:t>
            </a:r>
            <a:r>
              <a:rPr lang="en-US" b="1" dirty="0"/>
              <a:t>(25,sizeof(float));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1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realloc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previously allocated memory is insufficient or  more than sufficient </a:t>
            </a:r>
            <a:r>
              <a:rPr lang="en-US" dirty="0" smtClean="0"/>
              <a:t>then </a:t>
            </a:r>
            <a:r>
              <a:rPr lang="en-US" dirty="0"/>
              <a:t>previously allocated </a:t>
            </a:r>
            <a:r>
              <a:rPr lang="en-US" dirty="0" smtClean="0"/>
              <a:t>memory size can be changes using </a:t>
            </a:r>
            <a:r>
              <a:rPr lang="en-US" dirty="0" err="1"/>
              <a:t>realloc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Syntax </a:t>
            </a:r>
            <a:r>
              <a:rPr lang="en-US" dirty="0"/>
              <a:t>of </a:t>
            </a:r>
            <a:r>
              <a:rPr lang="en-US" dirty="0" err="1" smtClean="0"/>
              <a:t>realloc</a:t>
            </a:r>
            <a:r>
              <a:rPr lang="en-US" dirty="0" smtClean="0"/>
              <a:t>():</a:t>
            </a:r>
            <a:endParaRPr lang="en-US" dirty="0"/>
          </a:p>
          <a:p>
            <a:pPr marL="0" indent="0" algn="ctr">
              <a:buNone/>
            </a:pPr>
            <a:r>
              <a:rPr lang="en-US" b="1" dirty="0" smtClean="0"/>
              <a:t>ptr=</a:t>
            </a:r>
            <a:r>
              <a:rPr lang="en-US" b="1" dirty="0" err="1" smtClean="0"/>
              <a:t>realloc</a:t>
            </a:r>
            <a:r>
              <a:rPr lang="en-US" b="1" dirty="0" smtClean="0"/>
              <a:t>(</a:t>
            </a:r>
            <a:r>
              <a:rPr lang="en-US" b="1" dirty="0" err="1" smtClean="0"/>
              <a:t>ptr,new</a:t>
            </a:r>
            <a:r>
              <a:rPr lang="en-US" b="1" dirty="0" smtClean="0"/>
              <a:t>-size</a:t>
            </a:r>
            <a:r>
              <a:rPr lang="en-US" b="1" dirty="0"/>
              <a:t>);</a:t>
            </a:r>
          </a:p>
          <a:p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marL="0" indent="3316288">
              <a:buNone/>
            </a:pPr>
            <a:r>
              <a:rPr lang="en-US" b="1" dirty="0"/>
              <a:t>f</a:t>
            </a:r>
            <a:r>
              <a:rPr lang="en-US" b="1" dirty="0" smtClean="0"/>
              <a:t>loat *ptr;</a:t>
            </a:r>
          </a:p>
          <a:p>
            <a:pPr marL="0" indent="3316288">
              <a:buNone/>
            </a:pPr>
            <a:r>
              <a:rPr lang="en-US" b="1" dirty="0" smtClean="0"/>
              <a:t>ptr</a:t>
            </a:r>
            <a:r>
              <a:rPr lang="en-US" b="1" dirty="0"/>
              <a:t>=(float</a:t>
            </a:r>
            <a:r>
              <a:rPr lang="en-US" b="1" dirty="0" smtClean="0"/>
              <a:t>*)</a:t>
            </a:r>
            <a:r>
              <a:rPr lang="en-US" b="1" dirty="0" err="1"/>
              <a:t>m</a:t>
            </a:r>
            <a:r>
              <a:rPr lang="en-US" b="1" dirty="0" err="1" smtClean="0"/>
              <a:t>alloc</a:t>
            </a:r>
            <a:r>
              <a:rPr lang="en-US" b="1" dirty="0" smtClean="0"/>
              <a:t>(25*</a:t>
            </a:r>
            <a:r>
              <a:rPr lang="en-US" b="1" dirty="0" err="1" smtClean="0"/>
              <a:t>sizeof</a:t>
            </a:r>
            <a:r>
              <a:rPr lang="en-US" b="1" dirty="0" smtClean="0"/>
              <a:t>(float));</a:t>
            </a:r>
          </a:p>
          <a:p>
            <a:pPr marL="0" indent="3316288">
              <a:buNone/>
            </a:pPr>
            <a:r>
              <a:rPr lang="en-US" b="1" dirty="0" smtClean="0"/>
              <a:t>ptr=</a:t>
            </a:r>
            <a:r>
              <a:rPr lang="en-US" b="1" dirty="0" err="1" smtClean="0"/>
              <a:t>realloc</a:t>
            </a:r>
            <a:r>
              <a:rPr lang="en-US" b="1" dirty="0" smtClean="0"/>
              <a:t>(ptr,5*</a:t>
            </a:r>
            <a:r>
              <a:rPr lang="en-US" b="1" dirty="0" err="1" smtClean="0"/>
              <a:t>sizeof</a:t>
            </a:r>
            <a:r>
              <a:rPr lang="en-US" b="1" dirty="0" smtClean="0"/>
              <a:t>(float));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2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free()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Dynamically allocated memory with either </a:t>
            </a:r>
            <a:r>
              <a:rPr lang="en-US" dirty="0" err="1"/>
              <a:t>calloc</a:t>
            </a:r>
            <a:r>
              <a:rPr lang="en-US" dirty="0"/>
              <a:t>() or  </a:t>
            </a:r>
            <a:r>
              <a:rPr lang="en-US" dirty="0" err="1"/>
              <a:t>malloc</a:t>
            </a:r>
            <a:r>
              <a:rPr lang="en-US" dirty="0"/>
              <a:t>() does not get return on its own.</a:t>
            </a:r>
          </a:p>
          <a:p>
            <a:r>
              <a:rPr lang="en-US" dirty="0"/>
              <a:t>The programmer must use free() explicitly to release  space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 </a:t>
            </a:r>
            <a:r>
              <a:rPr lang="en-US" dirty="0"/>
              <a:t>of </a:t>
            </a:r>
            <a:r>
              <a:rPr lang="en-US" dirty="0" smtClean="0"/>
              <a:t>free():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f</a:t>
            </a:r>
            <a:r>
              <a:rPr lang="en-US" b="1" dirty="0" smtClean="0"/>
              <a:t>ree(ptr);</a:t>
            </a:r>
            <a:endParaRPr lang="en-US" b="1" dirty="0"/>
          </a:p>
          <a:p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marL="0" indent="3316288">
              <a:buNone/>
            </a:pPr>
            <a:r>
              <a:rPr lang="en-US" b="1" dirty="0"/>
              <a:t>f</a:t>
            </a:r>
            <a:r>
              <a:rPr lang="en-US" b="1" dirty="0" smtClean="0"/>
              <a:t>loat *ptr;</a:t>
            </a:r>
          </a:p>
          <a:p>
            <a:pPr marL="0" indent="3316288">
              <a:buNone/>
            </a:pPr>
            <a:r>
              <a:rPr lang="en-US" b="1" dirty="0" smtClean="0"/>
              <a:t>ptr</a:t>
            </a:r>
            <a:r>
              <a:rPr lang="en-US" b="1" dirty="0"/>
              <a:t>=(float</a:t>
            </a:r>
            <a:r>
              <a:rPr lang="en-US" b="1" dirty="0" smtClean="0"/>
              <a:t>*)</a:t>
            </a:r>
            <a:r>
              <a:rPr lang="en-US" b="1" dirty="0" err="1"/>
              <a:t>m</a:t>
            </a:r>
            <a:r>
              <a:rPr lang="en-US" b="1" dirty="0" err="1" smtClean="0"/>
              <a:t>alloc</a:t>
            </a:r>
            <a:r>
              <a:rPr lang="en-US" b="1" dirty="0" smtClean="0"/>
              <a:t>(25*</a:t>
            </a:r>
            <a:r>
              <a:rPr lang="en-US" b="1" dirty="0" err="1" smtClean="0"/>
              <a:t>sizeof</a:t>
            </a:r>
            <a:r>
              <a:rPr lang="en-US" b="1" dirty="0" smtClean="0"/>
              <a:t>(float));</a:t>
            </a:r>
          </a:p>
          <a:p>
            <a:pPr marL="0" indent="3316288">
              <a:buNone/>
            </a:pPr>
            <a:r>
              <a:rPr lang="en-US" b="1" dirty="0"/>
              <a:t>f</a:t>
            </a:r>
            <a:r>
              <a:rPr lang="en-US" b="1" dirty="0" smtClean="0"/>
              <a:t>ree(ptr);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44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hruti.maniar@darshan.ac.in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Prof. Shruti Maniar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DS)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2305CS201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7" y="5211251"/>
            <a:ext cx="1360714" cy="1374606"/>
          </a:xfrm>
        </p:spPr>
      </p:pic>
    </p:spTree>
    <p:extLst>
      <p:ext uri="{BB962C8B-B14F-4D97-AF65-F5344CB8AC3E}">
        <p14:creationId xmlns:p14="http://schemas.microsoft.com/office/powerpoint/2010/main" val="141884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1801</Words>
  <Application>Microsoft Office PowerPoint</Application>
  <PresentationFormat>Widescreen</PresentationFormat>
  <Paragraphs>471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Roboto Condensed Light</vt:lpstr>
      <vt:lpstr>Times New Roman</vt:lpstr>
      <vt:lpstr>Wingdings</vt:lpstr>
      <vt:lpstr>Calibri</vt:lpstr>
      <vt:lpstr>Arial</vt:lpstr>
      <vt:lpstr>Arial Rounded MT Bold</vt:lpstr>
      <vt:lpstr>Segoe UI Black</vt:lpstr>
      <vt:lpstr>Open Sans Semibold</vt:lpstr>
      <vt:lpstr>Shruti</vt:lpstr>
      <vt:lpstr>Wingdings 3</vt:lpstr>
      <vt:lpstr>Wingdings 2</vt:lpstr>
      <vt:lpstr>Roboto Condensed</vt:lpstr>
      <vt:lpstr>Open Sans</vt:lpstr>
      <vt:lpstr>Office Theme</vt:lpstr>
      <vt:lpstr>Unit-1  Linear Data Structure Array</vt:lpstr>
      <vt:lpstr>PowerPoint Presentation</vt:lpstr>
      <vt:lpstr>One Dimensional Array</vt:lpstr>
      <vt:lpstr>Address calculation of 1-D array elements</vt:lpstr>
      <vt:lpstr>EXAMPLE : Address calculation of 1-D Array </vt:lpstr>
      <vt:lpstr>Two Dimensional Array</vt:lpstr>
      <vt:lpstr>Two Dimensional Array</vt:lpstr>
      <vt:lpstr>Two Dimensional Array</vt:lpstr>
      <vt:lpstr>EXAMPLE : Address calculation of 2-D Array</vt:lpstr>
      <vt:lpstr>EXAMPLE : Address calculation of 2-D Array</vt:lpstr>
      <vt:lpstr>Applications of Array</vt:lpstr>
      <vt:lpstr>Representation of Polynomial equation</vt:lpstr>
      <vt:lpstr>Sparse matrix</vt:lpstr>
      <vt:lpstr>Sparse matrix Cont…</vt:lpstr>
      <vt:lpstr>Overview of Pointer</vt:lpstr>
      <vt:lpstr>Overview of Pointer</vt:lpstr>
      <vt:lpstr>Dynamic Memory Allocation</vt:lpstr>
      <vt:lpstr>malloc()</vt:lpstr>
      <vt:lpstr>calloc()</vt:lpstr>
      <vt:lpstr>realloc()</vt:lpstr>
      <vt:lpstr>free()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- Linear Data Structure</dc:title>
  <dc:creator>ADMIN</dc:creator>
  <cp:keywords>Array, Data Structure, Darshan University, Dr. Pradyumansinh Jadeja</cp:keywords>
  <cp:lastModifiedBy>DELL</cp:lastModifiedBy>
  <cp:revision>229</cp:revision>
  <dcterms:created xsi:type="dcterms:W3CDTF">2020-05-01T05:09:15Z</dcterms:created>
  <dcterms:modified xsi:type="dcterms:W3CDTF">2025-12-17T02:50:27Z</dcterms:modified>
</cp:coreProperties>
</file>