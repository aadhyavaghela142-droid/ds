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83" r:id="rId2"/>
    <p:sldId id="345" r:id="rId3"/>
    <p:sldId id="346" r:id="rId4"/>
    <p:sldId id="352" r:id="rId5"/>
    <p:sldId id="348" r:id="rId6"/>
    <p:sldId id="349" r:id="rId7"/>
    <p:sldId id="350" r:id="rId8"/>
    <p:sldId id="351" r:id="rId9"/>
    <p:sldId id="391" r:id="rId10"/>
    <p:sldId id="410" r:id="rId11"/>
    <p:sldId id="411" r:id="rId12"/>
    <p:sldId id="363" r:id="rId13"/>
    <p:sldId id="364" r:id="rId14"/>
    <p:sldId id="365" r:id="rId15"/>
    <p:sldId id="366" r:id="rId16"/>
    <p:sldId id="367" r:id="rId17"/>
    <p:sldId id="368" r:id="rId18"/>
    <p:sldId id="398" r:id="rId19"/>
    <p:sldId id="399" r:id="rId20"/>
    <p:sldId id="400" r:id="rId21"/>
    <p:sldId id="402" r:id="rId22"/>
    <p:sldId id="403" r:id="rId23"/>
    <p:sldId id="404" r:id="rId24"/>
    <p:sldId id="405" r:id="rId25"/>
    <p:sldId id="406" r:id="rId26"/>
    <p:sldId id="407" r:id="rId27"/>
    <p:sldId id="418" r:id="rId28"/>
    <p:sldId id="370" r:id="rId29"/>
    <p:sldId id="409" r:id="rId30"/>
    <p:sldId id="396" r:id="rId31"/>
    <p:sldId id="420" r:id="rId32"/>
    <p:sldId id="419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87" r:id="rId41"/>
    <p:sldId id="385" r:id="rId42"/>
  </p:sldIdLst>
  <p:sldSz cx="12192000" cy="6858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Wingdings 3" panose="05040102010807070707" pitchFamily="18" charset="2"/>
      <p:regular r:id="rId53"/>
    </p:embeddedFont>
    <p:embeddedFont>
      <p:font typeface="Roboto Condensed" panose="02000000000000000000" pitchFamily="2" charset="0"/>
      <p:regular r:id="rId54"/>
      <p:bold r:id="rId55"/>
      <p:italic r:id="rId56"/>
      <p:boldItalic r:id="rId57"/>
    </p:embeddedFont>
    <p:embeddedFont>
      <p:font typeface="Segoe UI Black" panose="020B0A02040204020203" pitchFamily="34" charset="0"/>
      <p:bold r:id="rId58"/>
      <p:boldItalic r:id="rId59"/>
    </p:embeddedFont>
    <p:embeddedFont>
      <p:font typeface="Roboto Condensed Light" panose="02000000000000000000" pitchFamily="2" charset="0"/>
      <p:regular r:id="rId60"/>
      <p:italic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e6zcnd+YJ3s3YWwVuTX6fw==" hashData="Dgkd+4Eno36CA1KqHuE7PyT1xL75Lp4nPmymvDm8JuZqfNGXJxmQrhRG0W2kEbh5uCWcL5jn49ZccVXHpaxO5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0AE"/>
    <a:srgbClr val="558ED5"/>
    <a:srgbClr val="B84742"/>
    <a:srgbClr val="5C0000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3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835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52" y="1813775"/>
            <a:ext cx="4036868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96911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852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638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 userDrawn="1"/>
        </p:nvGrpSpPr>
        <p:grpSpPr>
          <a:xfrm>
            <a:off x="9640133" y="149992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640133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438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Maniar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#2305CS201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Linear Data Structure (Stack)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Linear Data Structure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Shruti Maniar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#2305CS201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35" y="5211251"/>
            <a:ext cx="1357162" cy="1353599"/>
          </a:xfrm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linear list which allows insertion and deletion of an element at one end only is called </a:t>
            </a:r>
            <a:r>
              <a:rPr lang="en-IN" b="1" i="1" dirty="0">
                <a:solidFill>
                  <a:srgbClr val="C00000"/>
                </a:solidFill>
              </a:rPr>
              <a:t>stack</a:t>
            </a:r>
            <a:r>
              <a:rPr lang="en-IN" dirty="0"/>
              <a:t>.</a:t>
            </a:r>
          </a:p>
          <a:p>
            <a:r>
              <a:rPr lang="en-IN" dirty="0"/>
              <a:t>The insertion operation is called as </a:t>
            </a:r>
            <a:r>
              <a:rPr lang="en-IN" b="1" i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deletion operation as </a:t>
            </a:r>
            <a:r>
              <a:rPr lang="en-IN" b="1" i="1" dirty="0">
                <a:solidFill>
                  <a:srgbClr val="C00000"/>
                </a:solidFill>
              </a:rPr>
              <a:t>POP</a:t>
            </a:r>
            <a:r>
              <a:rPr lang="en-IN" dirty="0"/>
              <a:t>.</a:t>
            </a:r>
          </a:p>
          <a:p>
            <a:r>
              <a:rPr lang="en-IN" dirty="0"/>
              <a:t>The most accessible elements in stack is known as </a:t>
            </a:r>
            <a:r>
              <a:rPr lang="en-IN" b="1" i="1" dirty="0">
                <a:solidFill>
                  <a:srgbClr val="C00000"/>
                </a:solidFill>
              </a:rPr>
              <a:t>top</a:t>
            </a:r>
            <a:r>
              <a:rPr lang="en-IN" dirty="0"/>
              <a:t>.</a:t>
            </a:r>
          </a:p>
          <a:p>
            <a:r>
              <a:rPr lang="en-IN" dirty="0"/>
              <a:t>The elements can only be removed in the opposite orders from that in which they were added to the stack.</a:t>
            </a:r>
          </a:p>
          <a:p>
            <a:r>
              <a:rPr lang="en-IN" dirty="0"/>
              <a:t>Such a linear list is referred to as a </a:t>
            </a:r>
            <a:r>
              <a:rPr lang="en-IN" b="1" i="1" dirty="0">
                <a:solidFill>
                  <a:srgbClr val="C00000"/>
                </a:solidFill>
              </a:rPr>
              <a:t>LIFO (Last In First Out) </a:t>
            </a:r>
            <a:r>
              <a:rPr lang="en-IN" dirty="0"/>
              <a:t>list.</a:t>
            </a:r>
          </a:p>
          <a:p>
            <a:endParaRPr lang="en-IN" b="1" i="1" dirty="0">
              <a:solidFill>
                <a:srgbClr val="FF00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810000" y="5257800"/>
            <a:ext cx="4419600" cy="544206"/>
            <a:chOff x="2286000" y="5628752"/>
            <a:chExt cx="4419600" cy="544206"/>
          </a:xfrm>
        </p:grpSpPr>
        <p:sp>
          <p:nvSpPr>
            <p:cNvPr id="9" name="Rectangle 8"/>
            <p:cNvSpPr/>
            <p:nvPr/>
          </p:nvSpPr>
          <p:spPr>
            <a:xfrm>
              <a:off x="4793670" y="5639558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86000" y="5638800"/>
              <a:ext cx="543448" cy="533422"/>
              <a:chOff x="2667000" y="5083210"/>
              <a:chExt cx="543448" cy="53342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2824590" y="5638800"/>
              <a:ext cx="543448" cy="533422"/>
              <a:chOff x="2667000" y="5083210"/>
              <a:chExt cx="543448" cy="53342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3363532" y="5638800"/>
              <a:ext cx="543448" cy="533422"/>
              <a:chOff x="2667000" y="5083210"/>
              <a:chExt cx="543448" cy="53342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>
              <a:off x="4257152" y="5638778"/>
              <a:ext cx="543448" cy="533422"/>
              <a:chOff x="2667000" y="5083210"/>
              <a:chExt cx="543448" cy="533422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2667000" y="5083210"/>
                <a:ext cx="533400" cy="533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2667000" y="5083232"/>
                <a:ext cx="533400" cy="533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2667000" y="5083968"/>
                <a:ext cx="543448" cy="53266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3896932" y="5628752"/>
              <a:ext cx="360220" cy="543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prstClr val="black"/>
                  </a:solidFill>
                </a:rPr>
                <a:t>…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334000" y="5638800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72200" y="5638800"/>
              <a:ext cx="533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841078" y="5628774"/>
              <a:ext cx="360220" cy="543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prstClr val="black"/>
                  </a:solidFill>
                </a:rPr>
                <a:t>…</a:t>
              </a: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737168" y="6019800"/>
            <a:ext cx="61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prstClr val="black"/>
                </a:solidFill>
              </a:rPr>
              <a:t>TOP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35" name="Straight Arrow Connector 34"/>
          <p:cNvCxnSpPr>
            <a:stCxn id="33" idx="0"/>
            <a:endCxn id="25" idx="2"/>
          </p:cNvCxnSpPr>
          <p:nvPr/>
        </p:nvCxnSpPr>
        <p:spPr>
          <a:xfrm flipV="1">
            <a:off x="6046992" y="5801226"/>
            <a:ext cx="860" cy="218574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324600" y="4579956"/>
            <a:ext cx="0" cy="601644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95800" y="4800600"/>
            <a:ext cx="110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Insertion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95800" y="4495800"/>
            <a:ext cx="1105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Deletion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43" name="Straight Arrow Connector 42"/>
          <p:cNvCxnSpPr>
            <a:stCxn id="39" idx="3"/>
          </p:cNvCxnSpPr>
          <p:nvPr/>
        </p:nvCxnSpPr>
        <p:spPr>
          <a:xfrm>
            <a:off x="5601042" y="4985266"/>
            <a:ext cx="71351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3"/>
          </p:cNvCxnSpPr>
          <p:nvPr/>
        </p:nvCxnSpPr>
        <p:spPr>
          <a:xfrm flipH="1">
            <a:off x="5601042" y="4680466"/>
            <a:ext cx="723558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905000" y="4419600"/>
            <a:ext cx="762000" cy="1600200"/>
          </a:xfrm>
          <a:custGeom>
            <a:avLst/>
            <a:gdLst>
              <a:gd name="connsiteX0" fmla="*/ 0 w 762000"/>
              <a:gd name="connsiteY0" fmla="*/ 0 h 1447800"/>
              <a:gd name="connsiteX1" fmla="*/ 0 w 762000"/>
              <a:gd name="connsiteY1" fmla="*/ 1447800 h 1447800"/>
              <a:gd name="connsiteX2" fmla="*/ 762000 w 762000"/>
              <a:gd name="connsiteY2" fmla="*/ 1447800 h 1447800"/>
              <a:gd name="connsiteX3" fmla="*/ 762000 w 762000"/>
              <a:gd name="connsiteY3" fmla="*/ 381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1447800">
                <a:moveTo>
                  <a:pt x="0" y="0"/>
                </a:moveTo>
                <a:lnTo>
                  <a:pt x="0" y="1447800"/>
                </a:lnTo>
                <a:lnTo>
                  <a:pt x="762000" y="1447800"/>
                </a:lnTo>
                <a:lnTo>
                  <a:pt x="762000" y="38100"/>
                </a:ln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05000" y="57150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A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905000" y="54102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B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05000" y="5105400"/>
            <a:ext cx="762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prstClr val="white"/>
                </a:solidFill>
              </a:rPr>
              <a:t>C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11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8869 L -3.33333E-6 -1.83206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4428 L -3.33333E-6 1.7696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986 L -3.33333E-6 -4.62873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986 L -3.33333E-6 -4.62873E-6 " pathEditMode="relative" rAng="0" ptsTypes="AA">
                                      <p:cBhvr>
                                        <p:cTn id="34" dur="20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4428 L -3.33333E-6 1.7696E-6 " pathEditMode="relative" rAng="0" ptsTypes="AA">
                                      <p:cBhvr>
                                        <p:cTn id="41" dur="20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2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8869 L -3.33333E-6 -1.83206E-6 " pathEditMode="relative" rAng="0" ptsTypes="AA">
                                      <p:cBhvr>
                                        <p:cTn id="48" dur="2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9" grpId="0"/>
      <p:bldP spid="40" grpId="0"/>
      <p:bldP spid="14" grpId="0" animBg="1"/>
      <p:bldP spid="34" grpId="0" animBg="1"/>
      <p:bldP spid="34" grpId="1" animBg="1"/>
      <p:bldP spid="34" grpId="2" animBg="1"/>
      <p:bldP spid="34" grpId="3" animBg="1"/>
      <p:bldP spid="41" grpId="0" animBg="1"/>
      <p:bldP spid="41" grpId="1" animBg="1"/>
      <p:bldP spid="41" grpId="2" animBg="1"/>
      <p:bldP spid="41" grpId="3" animBg="1"/>
      <p:bldP spid="42" grpId="0" animBg="1"/>
      <p:bldP spid="42" grpId="1" animBg="1"/>
      <p:bldP spid="42" grpId="2" animBg="1"/>
      <p:bldP spid="42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Stack </a:t>
            </a:r>
            <a:r>
              <a:rPr lang="en-IN" dirty="0" err="1"/>
              <a:t>Cont</a:t>
            </a:r>
            <a:r>
              <a:rPr lang="en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pointer TOP keeps track of the top element in the stack. </a:t>
            </a:r>
          </a:p>
          <a:p>
            <a:r>
              <a:rPr lang="en-IN" dirty="0"/>
              <a:t>Initially, when the </a:t>
            </a:r>
            <a:r>
              <a:rPr lang="en-IN" b="1" i="1" dirty="0"/>
              <a:t>stack is empty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has a value of </a:t>
            </a:r>
            <a:r>
              <a:rPr lang="en-IN" b="1" i="1" dirty="0">
                <a:solidFill>
                  <a:srgbClr val="C00000"/>
                </a:solidFill>
              </a:rPr>
              <a:t>“zero”</a:t>
            </a:r>
            <a:r>
              <a:rPr lang="en-IN" dirty="0"/>
              <a:t>.</a:t>
            </a:r>
          </a:p>
          <a:p>
            <a:r>
              <a:rPr lang="en-IN" dirty="0"/>
              <a:t>Each time a </a:t>
            </a:r>
            <a:r>
              <a:rPr lang="en-IN" b="1" dirty="0"/>
              <a:t>new element is inserted</a:t>
            </a:r>
            <a:r>
              <a:rPr lang="en-IN" dirty="0"/>
              <a:t> in the stack, the pointer is </a:t>
            </a:r>
            <a:r>
              <a:rPr lang="en-IN" b="1" i="1" dirty="0">
                <a:solidFill>
                  <a:srgbClr val="C00000"/>
                </a:solidFill>
              </a:rPr>
              <a:t>incremented by “one”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before, the element is placed on the stack. </a:t>
            </a:r>
          </a:p>
          <a:p>
            <a:r>
              <a:rPr lang="en-IN" dirty="0"/>
              <a:t>The pointer is </a:t>
            </a:r>
            <a:r>
              <a:rPr lang="en-IN" b="1" i="1" dirty="0">
                <a:solidFill>
                  <a:srgbClr val="C00000"/>
                </a:solidFill>
              </a:rPr>
              <a:t>decremented by “one”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each time a </a:t>
            </a:r>
            <a:r>
              <a:rPr lang="en-IN" b="1" dirty="0"/>
              <a:t>deletion</a:t>
            </a:r>
            <a:r>
              <a:rPr lang="en-IN" dirty="0"/>
              <a:t> is made from the stack.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IN" dirty="0"/>
              <a:t>Recursion</a:t>
            </a:r>
          </a:p>
          <a:p>
            <a:pPr>
              <a:spcBef>
                <a:spcPts val="600"/>
              </a:spcBef>
            </a:pPr>
            <a:r>
              <a:rPr lang="en-IN" dirty="0"/>
              <a:t>Keeping track of function calls</a:t>
            </a:r>
          </a:p>
          <a:p>
            <a:pPr>
              <a:spcBef>
                <a:spcPts val="600"/>
              </a:spcBef>
            </a:pPr>
            <a:r>
              <a:rPr lang="en-IN" dirty="0"/>
              <a:t>Evaluation of expressions</a:t>
            </a:r>
          </a:p>
          <a:p>
            <a:pPr>
              <a:spcBef>
                <a:spcPts val="600"/>
              </a:spcBef>
            </a:pPr>
            <a:r>
              <a:rPr lang="en-IN" dirty="0"/>
              <a:t>Reversing characters</a:t>
            </a:r>
          </a:p>
          <a:p>
            <a:pPr>
              <a:spcBef>
                <a:spcPts val="600"/>
              </a:spcBef>
            </a:pPr>
            <a:r>
              <a:rPr lang="en-IN" dirty="0"/>
              <a:t>Servicing hardware interrupts</a:t>
            </a:r>
          </a:p>
          <a:p>
            <a:pPr>
              <a:spcBef>
                <a:spcPts val="600"/>
              </a:spcBef>
            </a:pPr>
            <a:r>
              <a:rPr lang="en-IN" dirty="0"/>
              <a:t>Solving combinatorial problems using backtracking</a:t>
            </a:r>
          </a:p>
          <a:p>
            <a:pPr>
              <a:spcBef>
                <a:spcPts val="600"/>
              </a:spcBef>
            </a:pPr>
            <a:r>
              <a:rPr lang="en-IN" dirty="0"/>
              <a:t>Expression Conversion (Infix to Postfix, Infix to Prefix)</a:t>
            </a:r>
          </a:p>
          <a:p>
            <a:pPr>
              <a:spcBef>
                <a:spcPts val="600"/>
              </a:spcBef>
            </a:pPr>
            <a:r>
              <a:rPr lang="en-IN" dirty="0"/>
              <a:t>Game Playing (Chess)</a:t>
            </a:r>
          </a:p>
          <a:p>
            <a:pPr>
              <a:spcBef>
                <a:spcPts val="600"/>
              </a:spcBef>
            </a:pPr>
            <a:r>
              <a:rPr lang="en-IN" dirty="0"/>
              <a:t>Microsoft Word (Undo / Redo)</a:t>
            </a:r>
          </a:p>
          <a:p>
            <a:pPr>
              <a:spcBef>
                <a:spcPts val="600"/>
              </a:spcBef>
            </a:pPr>
            <a:r>
              <a:rPr lang="en-IN" dirty="0"/>
              <a:t>Compiler – Parsing syntax &amp; expression</a:t>
            </a:r>
          </a:p>
          <a:p>
            <a:pPr>
              <a:spcBef>
                <a:spcPts val="600"/>
              </a:spcBef>
            </a:pPr>
            <a:r>
              <a:rPr lang="en-IN" dirty="0"/>
              <a:t>Finding paths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25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Procedure : PUSH (S, TOP, 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procedure inserts an element </a:t>
            </a:r>
            <a:r>
              <a:rPr lang="en-IN" b="1" dirty="0">
                <a:solidFill>
                  <a:srgbClr val="C00000"/>
                </a:solidFill>
              </a:rPr>
              <a:t>X</a:t>
            </a:r>
            <a:r>
              <a:rPr lang="en-IN" dirty="0"/>
              <a:t> to the top of a stack.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 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/>
              <a:t> elements.</a:t>
            </a:r>
          </a:p>
          <a:p>
            <a:r>
              <a:rPr lang="en-IN" dirty="0"/>
              <a:t>A pointer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represents the top element in the stack.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6518" y="2599937"/>
            <a:ext cx="5735933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overflow]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≥ N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OVERFLOW’)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[Increment TOP]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+ 1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[Insert Element]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S[TOP] ← X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[Finished]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sp>
        <p:nvSpPr>
          <p:cNvPr id="6" name="Freeform 5"/>
          <p:cNvSpPr/>
          <p:nvPr/>
        </p:nvSpPr>
        <p:spPr>
          <a:xfrm>
            <a:off x="10712134" y="2610084"/>
            <a:ext cx="762000" cy="1027023"/>
          </a:xfrm>
          <a:custGeom>
            <a:avLst/>
            <a:gdLst>
              <a:gd name="connsiteX0" fmla="*/ 0 w 762000"/>
              <a:gd name="connsiteY0" fmla="*/ 0 h 1447800"/>
              <a:gd name="connsiteX1" fmla="*/ 0 w 762000"/>
              <a:gd name="connsiteY1" fmla="*/ 1447800 h 1447800"/>
              <a:gd name="connsiteX2" fmla="*/ 762000 w 762000"/>
              <a:gd name="connsiteY2" fmla="*/ 1447800 h 1447800"/>
              <a:gd name="connsiteX3" fmla="*/ 762000 w 762000"/>
              <a:gd name="connsiteY3" fmla="*/ 381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1447800">
                <a:moveTo>
                  <a:pt x="0" y="0"/>
                </a:moveTo>
                <a:lnTo>
                  <a:pt x="0" y="1447800"/>
                </a:lnTo>
                <a:lnTo>
                  <a:pt x="762000" y="1447800"/>
                </a:lnTo>
                <a:lnTo>
                  <a:pt x="762000" y="38100"/>
                </a:ln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45698" y="3677433"/>
            <a:ext cx="49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tx2"/>
                </a:solidFill>
              </a:rPr>
              <a:t>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6068" y="2606686"/>
            <a:ext cx="29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Stack is empty, TOP = 0, N=3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66068" y="324551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10)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79062" y="33057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1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5" name="Straight Arrow Connector 14"/>
          <p:cNvCxnSpPr>
            <a:stCxn id="13" idx="3"/>
          </p:cNvCxnSpPr>
          <p:nvPr/>
        </p:nvCxnSpPr>
        <p:spPr>
          <a:xfrm>
            <a:off x="10293462" y="3490433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712134" y="3323211"/>
            <a:ext cx="762000" cy="3224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10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6068" y="388433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8)</a:t>
            </a:r>
            <a:endParaRPr lang="en-US" b="1" dirty="0">
              <a:solidFill>
                <a:schemeClr val="tx2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9302862" y="2959871"/>
            <a:ext cx="1409272" cy="369332"/>
            <a:chOff x="6400800" y="5486400"/>
            <a:chExt cx="1409272" cy="369332"/>
          </a:xfrm>
        </p:grpSpPr>
        <p:sp>
          <p:nvSpPr>
            <p:cNvPr id="21" name="TextBox 20"/>
            <p:cNvSpPr txBox="1"/>
            <p:nvPr/>
          </p:nvSpPr>
          <p:spPr>
            <a:xfrm>
              <a:off x="6400800" y="5486400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21" idx="3"/>
            </p:cNvCxnSpPr>
            <p:nvPr/>
          </p:nvCxnSpPr>
          <p:spPr>
            <a:xfrm>
              <a:off x="7391400" y="56710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0712134" y="2959871"/>
            <a:ext cx="762000" cy="345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8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6068" y="452316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-5)</a:t>
            </a:r>
            <a:endParaRPr lang="en-US" b="1" dirty="0">
              <a:solidFill>
                <a:schemeClr val="tx2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9264762" y="2610084"/>
            <a:ext cx="1447372" cy="369332"/>
            <a:chOff x="6362700" y="5136613"/>
            <a:chExt cx="1447372" cy="369332"/>
          </a:xfrm>
        </p:grpSpPr>
        <p:sp>
          <p:nvSpPr>
            <p:cNvPr id="27" name="TextBox 26"/>
            <p:cNvSpPr txBox="1"/>
            <p:nvPr/>
          </p:nvSpPr>
          <p:spPr>
            <a:xfrm>
              <a:off x="6362700" y="5136613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3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9" name="Straight Arrow Connector 28"/>
            <p:cNvCxnSpPr>
              <a:stCxn id="27" idx="3"/>
            </p:cNvCxnSpPr>
            <p:nvPr/>
          </p:nvCxnSpPr>
          <p:spPr>
            <a:xfrm>
              <a:off x="7391400" y="5321279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10712134" y="2610085"/>
            <a:ext cx="762000" cy="349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-5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6068" y="516198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PUSH(S, TOP, 6)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66068" y="580081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Overflow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18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411 L -3.33333E-6 -0.00394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307 L -3.33333E-6 -0.00301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214 L -3.33333E-6 -0.00208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/>
      <p:bldP spid="10" grpId="0"/>
      <p:bldP spid="13" grpId="0"/>
      <p:bldP spid="13" grpId="1"/>
      <p:bldP spid="19" grpId="0" animBg="1"/>
      <p:bldP spid="19" grpId="1" animBg="1"/>
      <p:bldP spid="20" grpId="0"/>
      <p:bldP spid="25" grpId="0" animBg="1"/>
      <p:bldP spid="25" grpId="1" animBg="1"/>
      <p:bldP spid="26" grpId="0"/>
      <p:bldP spid="31" grpId="0" animBg="1"/>
      <p:bldP spid="31" grpId="1" animBg="1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: POP (S, TOP)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function </a:t>
            </a:r>
            <a:r>
              <a:rPr lang="en-IN" b="1" i="1" dirty="0">
                <a:solidFill>
                  <a:srgbClr val="C00000"/>
                </a:solidFill>
              </a:rPr>
              <a:t>removes &amp; returns</a:t>
            </a:r>
            <a:r>
              <a:rPr lang="en-IN" dirty="0"/>
              <a:t> the top element from a stack.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  <a:p>
            <a:r>
              <a:rPr lang="en-IN" dirty="0"/>
              <a:t>A pointer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represents the top element in the stack.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6518" y="2600642"/>
            <a:ext cx="5906926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= 0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UNDERFLOW’)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(0)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[Decrement TOP]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- 1</a:t>
            </a:r>
          </a:p>
          <a:p>
            <a:pPr marL="450850" indent="-450850"/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former top element of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Return(S[TOP + 1])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460407" y="2633694"/>
            <a:ext cx="762000" cy="1233237"/>
            <a:chOff x="7815549" y="5290851"/>
            <a:chExt cx="762000" cy="1233237"/>
          </a:xfrm>
        </p:grpSpPr>
        <p:sp>
          <p:nvSpPr>
            <p:cNvPr id="5" name="Freeform 4"/>
            <p:cNvSpPr/>
            <p:nvPr/>
          </p:nvSpPr>
          <p:spPr>
            <a:xfrm>
              <a:off x="7815549" y="5290851"/>
              <a:ext cx="762000" cy="872784"/>
            </a:xfrm>
            <a:custGeom>
              <a:avLst/>
              <a:gdLst>
                <a:gd name="connsiteX0" fmla="*/ 0 w 762000"/>
                <a:gd name="connsiteY0" fmla="*/ 0 h 1447800"/>
                <a:gd name="connsiteX1" fmla="*/ 0 w 762000"/>
                <a:gd name="connsiteY1" fmla="*/ 1447800 h 1447800"/>
                <a:gd name="connsiteX2" fmla="*/ 762000 w 762000"/>
                <a:gd name="connsiteY2" fmla="*/ 1447800 h 1447800"/>
                <a:gd name="connsiteX3" fmla="*/ 762000 w 762000"/>
                <a:gd name="connsiteY3" fmla="*/ 38100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447800">
                  <a:moveTo>
                    <a:pt x="0" y="0"/>
                  </a:moveTo>
                  <a:lnTo>
                    <a:pt x="0" y="1447800"/>
                  </a:lnTo>
                  <a:lnTo>
                    <a:pt x="762000" y="1447800"/>
                  </a:lnTo>
                  <a:lnTo>
                    <a:pt x="762000" y="38100"/>
                  </a:lnTo>
                </a:path>
              </a:pathLst>
            </a:cu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32506" y="6154756"/>
              <a:ext cx="494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tx2"/>
                  </a:solidFill>
                </a:rPr>
                <a:t>S</a:t>
              </a:r>
              <a:endParaRPr 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9460407" y="3210242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10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460407" y="2916459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8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60407" y="2633693"/>
            <a:ext cx="762000" cy="287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prstClr val="white"/>
                </a:solidFill>
              </a:rPr>
              <a:t>-5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057" y="260973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7558" y="2600642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3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7" name="Straight Arrow Connector 16"/>
          <p:cNvCxnSpPr>
            <a:stCxn id="16" idx="3"/>
          </p:cNvCxnSpPr>
          <p:nvPr/>
        </p:nvCxnSpPr>
        <p:spPr>
          <a:xfrm>
            <a:off x="9036258" y="2785308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8045658" y="2873042"/>
            <a:ext cx="1409272" cy="369332"/>
            <a:chOff x="6400800" y="5486400"/>
            <a:chExt cx="1409272" cy="369332"/>
          </a:xfrm>
        </p:grpSpPr>
        <p:sp>
          <p:nvSpPr>
            <p:cNvPr id="19" name="TextBox 18"/>
            <p:cNvSpPr txBox="1"/>
            <p:nvPr/>
          </p:nvSpPr>
          <p:spPr>
            <a:xfrm>
              <a:off x="6400800" y="5486400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2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19" idx="3"/>
            </p:cNvCxnSpPr>
            <p:nvPr/>
          </p:nvCxnSpPr>
          <p:spPr>
            <a:xfrm>
              <a:off x="7391400" y="56710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6399583" y="332689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21858" y="31751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1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23" name="Straight Arrow Connector 22"/>
          <p:cNvCxnSpPr>
            <a:stCxn id="22" idx="3"/>
          </p:cNvCxnSpPr>
          <p:nvPr/>
        </p:nvCxnSpPr>
        <p:spPr>
          <a:xfrm>
            <a:off x="9036258" y="3359804"/>
            <a:ext cx="4186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98664" y="404404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5658" y="350647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prstClr val="black"/>
                </a:solidFill>
              </a:rPr>
              <a:t>TOP = 0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99583" y="47612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POP(S, TOP)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2057" y="547835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Underflow</a:t>
            </a:r>
            <a:endParaRPr lang="en-US" sz="17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45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12792 L -4.16667E-6 2.14897E-6 " pathEditMode="relative" rAng="0" ptsTypes="AA">
                                      <p:cBhvr>
                                        <p:cTn id="84" dur="2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17234 L -0.00104 3.64793E-6 " pathEditMode="relative" rAng="0" ptsTypes="AA">
                                      <p:cBhvr>
                                        <p:cTn id="105" dur="2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21605 L 0.00035 0.00069 " pathEditMode="relative" rAng="0" ptsTypes="AA">
                                      <p:cBhvr>
                                        <p:cTn id="126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1" grpId="1" animBg="1"/>
      <p:bldP spid="11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/>
      <p:bldP spid="16" grpId="0"/>
      <p:bldP spid="16" grpId="1"/>
      <p:bldP spid="21" grpId="0"/>
      <p:bldP spid="22" grpId="0"/>
      <p:bldP spid="22" grpId="1"/>
      <p:bldP spid="24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: PEEP (S, TOP, 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function returns the value of the </a:t>
            </a:r>
            <a:r>
              <a:rPr lang="en-IN" b="1" dirty="0" err="1">
                <a:solidFill>
                  <a:srgbClr val="C00000"/>
                </a:solidFill>
              </a:rPr>
              <a:t>I</a:t>
            </a:r>
            <a:r>
              <a:rPr lang="en-IN" b="1" baseline="30000" dirty="0" err="1">
                <a:solidFill>
                  <a:srgbClr val="C00000"/>
                </a:solidFill>
              </a:rPr>
              <a:t>th</a:t>
            </a:r>
            <a:r>
              <a:rPr lang="en-IN" dirty="0"/>
              <a:t> element from the </a:t>
            </a:r>
            <a:r>
              <a:rPr lang="en-IN" b="1" dirty="0">
                <a:solidFill>
                  <a:srgbClr val="C00000"/>
                </a:solidFill>
              </a:rPr>
              <a:t>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the stack.  The element is not deleted by this function.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540" y="2389147"/>
            <a:ext cx="5911121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If 	TOP-I+1 ≤ 0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Then 	write (‘STACK UNDERFLOW’)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 (0)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[Return </a:t>
            </a:r>
            <a:r>
              <a:rPr lang="en-IN" sz="2200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200" b="1" baseline="30000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th</a:t>
            </a: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element from top   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of the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Return(S[TOP–I+1])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332280" y="2389147"/>
            <a:ext cx="2285572" cy="1233237"/>
            <a:chOff x="6401228" y="4953000"/>
            <a:chExt cx="2285572" cy="1233237"/>
          </a:xfrm>
        </p:grpSpPr>
        <p:grpSp>
          <p:nvGrpSpPr>
            <p:cNvPr id="5" name="Group 4"/>
            <p:cNvGrpSpPr/>
            <p:nvPr/>
          </p:nvGrpSpPr>
          <p:grpSpPr>
            <a:xfrm>
              <a:off x="7924800" y="4953000"/>
              <a:ext cx="762000" cy="1233237"/>
              <a:chOff x="7815549" y="5290851"/>
              <a:chExt cx="762000" cy="1233237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7815549" y="5290851"/>
                <a:ext cx="762000" cy="872784"/>
              </a:xfrm>
              <a:custGeom>
                <a:avLst/>
                <a:gdLst>
                  <a:gd name="connsiteX0" fmla="*/ 0 w 762000"/>
                  <a:gd name="connsiteY0" fmla="*/ 0 h 1447800"/>
                  <a:gd name="connsiteX1" fmla="*/ 0 w 762000"/>
                  <a:gd name="connsiteY1" fmla="*/ 1447800 h 1447800"/>
                  <a:gd name="connsiteX2" fmla="*/ 762000 w 762000"/>
                  <a:gd name="connsiteY2" fmla="*/ 1447800 h 1447800"/>
                  <a:gd name="connsiteX3" fmla="*/ 762000 w 762000"/>
                  <a:gd name="connsiteY3" fmla="*/ 3810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1447800">
                    <a:moveTo>
                      <a:pt x="0" y="0"/>
                    </a:moveTo>
                    <a:lnTo>
                      <a:pt x="0" y="1447800"/>
                    </a:lnTo>
                    <a:lnTo>
                      <a:pt x="762000" y="1447800"/>
                    </a:lnTo>
                    <a:lnTo>
                      <a:pt x="762000" y="38100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932506" y="6154756"/>
                <a:ext cx="49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tx2"/>
                    </a:solidFill>
                  </a:rPr>
                  <a:t>S</a:t>
                </a:r>
                <a:endParaRPr lang="en-US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7924800" y="5529549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10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924800" y="5235766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8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24800" y="4953000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-5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1228" y="49530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3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>
              <a:off x="7429928" y="51376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578902" y="238914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2)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85146" y="2632813"/>
            <a:ext cx="27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8902" y="306662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3)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28908" y="29270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78902" y="374410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PEEP (S, TOP, 4)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8902" y="4421578"/>
            <a:ext cx="131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Underflow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36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20023 L -1.66667E-6 -0.0007 " pathEditMode="relative" rAng="0" ptsTypes="AA">
                                      <p:cBhvr>
                                        <p:cTn id="54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0.24954 L 3.05556E-6 0.00046 " pathEditMode="relative" rAng="0" ptsTypes="AA">
                                      <p:cBhvr>
                                        <p:cTn id="67" dur="20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5" grpId="0"/>
      <p:bldP spid="15" grpId="1"/>
      <p:bldP spid="15" grpId="2"/>
      <p:bldP spid="16" grpId="0"/>
      <p:bldP spid="17" grpId="0"/>
      <p:bldP spid="17" grpId="1"/>
      <p:bldP spid="17" grpId="2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PROCEDURE : CHANGE (S, TOP, X, 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procedure changes the value of the </a:t>
            </a:r>
            <a:r>
              <a:rPr lang="en-IN" b="1" dirty="0" err="1">
                <a:solidFill>
                  <a:srgbClr val="C00000"/>
                </a:solidFill>
              </a:rPr>
              <a:t>I</a:t>
            </a:r>
            <a:r>
              <a:rPr lang="en-IN" b="1" baseline="30000" dirty="0" err="1">
                <a:solidFill>
                  <a:srgbClr val="C00000"/>
                </a:solidFill>
              </a:rPr>
              <a:t>th</a:t>
            </a:r>
            <a:r>
              <a:rPr lang="en-IN" dirty="0"/>
              <a:t> element from the top of the stack to </a:t>
            </a:r>
            <a:r>
              <a:rPr lang="en-IN" b="1" dirty="0">
                <a:solidFill>
                  <a:srgbClr val="C00000"/>
                </a:solidFill>
              </a:rPr>
              <a:t>X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containing </a:t>
            </a:r>
            <a:r>
              <a:rPr lang="en-IN" b="1" dirty="0">
                <a:solidFill>
                  <a:srgbClr val="C0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elements.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4093" y="2081371"/>
            <a:ext cx="5874124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underflow]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If 	TOP-I+1 ≤ 0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Then 	write (‘STACK UNDERFLOW’)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[Change </a:t>
            </a:r>
            <a:r>
              <a:rPr lang="en-IN" sz="2200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sz="2200" b="1" baseline="30000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th</a:t>
            </a:r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element from top    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of the stack]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S[TOP–I+1] ← X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[Finished]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73032" y="2089673"/>
            <a:ext cx="2285572" cy="1233237"/>
            <a:chOff x="6401228" y="4953000"/>
            <a:chExt cx="2285572" cy="1233237"/>
          </a:xfrm>
        </p:grpSpPr>
        <p:grpSp>
          <p:nvGrpSpPr>
            <p:cNvPr id="6" name="Group 5"/>
            <p:cNvGrpSpPr/>
            <p:nvPr/>
          </p:nvGrpSpPr>
          <p:grpSpPr>
            <a:xfrm>
              <a:off x="7924800" y="4953000"/>
              <a:ext cx="762000" cy="1233237"/>
              <a:chOff x="7815549" y="5290851"/>
              <a:chExt cx="762000" cy="1233237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7815549" y="5290851"/>
                <a:ext cx="762000" cy="872784"/>
              </a:xfrm>
              <a:custGeom>
                <a:avLst/>
                <a:gdLst>
                  <a:gd name="connsiteX0" fmla="*/ 0 w 762000"/>
                  <a:gd name="connsiteY0" fmla="*/ 0 h 1447800"/>
                  <a:gd name="connsiteX1" fmla="*/ 0 w 762000"/>
                  <a:gd name="connsiteY1" fmla="*/ 1447800 h 1447800"/>
                  <a:gd name="connsiteX2" fmla="*/ 762000 w 762000"/>
                  <a:gd name="connsiteY2" fmla="*/ 1447800 h 1447800"/>
                  <a:gd name="connsiteX3" fmla="*/ 762000 w 762000"/>
                  <a:gd name="connsiteY3" fmla="*/ 38100 h 144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1447800">
                    <a:moveTo>
                      <a:pt x="0" y="0"/>
                    </a:moveTo>
                    <a:lnTo>
                      <a:pt x="0" y="1447800"/>
                    </a:lnTo>
                    <a:lnTo>
                      <a:pt x="762000" y="1447800"/>
                    </a:lnTo>
                    <a:lnTo>
                      <a:pt x="762000" y="38100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932506" y="6154756"/>
                <a:ext cx="49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b="1" dirty="0">
                    <a:solidFill>
                      <a:schemeClr val="tx2"/>
                    </a:solidFill>
                  </a:rPr>
                  <a:t>S</a:t>
                </a:r>
                <a:endParaRPr lang="en-US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7924800" y="5529549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10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924800" y="5235766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8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924800" y="4953000"/>
              <a:ext cx="762000" cy="2873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prstClr val="white"/>
                  </a:solidFill>
                </a:rPr>
                <a:t>-5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1228" y="4953000"/>
              <a:ext cx="102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dirty="0">
                  <a:solidFill>
                    <a:prstClr val="black"/>
                  </a:solidFill>
                </a:rPr>
                <a:t>TOP = 3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10" idx="3"/>
            </p:cNvCxnSpPr>
            <p:nvPr/>
          </p:nvCxnSpPr>
          <p:spPr>
            <a:xfrm>
              <a:off x="7429928" y="5137666"/>
              <a:ext cx="41867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6491865" y="2084262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50, 2)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297032" y="2377028"/>
            <a:ext cx="762000" cy="282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50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1865" y="2953579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9, 3)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297032" y="2667676"/>
            <a:ext cx="762000" cy="282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1865" y="3822896"/>
            <a:ext cx="264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CHANGE (S, TOP, 25, 8)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1865" y="469221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Underflow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9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 animBg="1"/>
      <p:bldP spid="16" grpId="0"/>
      <p:bldP spid="17" grpId="0" animBg="1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following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Take a stack of </a:t>
            </a:r>
            <a:r>
              <a:rPr lang="en-US" b="1" dirty="0"/>
              <a:t>size 3 </a:t>
            </a:r>
            <a:r>
              <a:rPr lang="en-US" dirty="0"/>
              <a:t>and performing following operations. Show the position of stack at each step:</a:t>
            </a:r>
          </a:p>
          <a:p>
            <a:pPr lvl="1"/>
            <a:r>
              <a:rPr lang="en-US" b="1" dirty="0"/>
              <a:t>Push 1</a:t>
            </a:r>
          </a:p>
          <a:p>
            <a:pPr lvl="1"/>
            <a:r>
              <a:rPr lang="en-US" b="1" dirty="0"/>
              <a:t>Push 2</a:t>
            </a:r>
          </a:p>
          <a:p>
            <a:pPr lvl="1"/>
            <a:r>
              <a:rPr lang="en-US" b="1" dirty="0"/>
              <a:t>Push 3</a:t>
            </a:r>
          </a:p>
          <a:p>
            <a:pPr lvl="1"/>
            <a:r>
              <a:rPr lang="en-US" b="1" dirty="0"/>
              <a:t>Push 4</a:t>
            </a:r>
          </a:p>
          <a:p>
            <a:pPr lvl="1"/>
            <a:r>
              <a:rPr lang="en-US" b="1" dirty="0"/>
              <a:t>Pop </a:t>
            </a:r>
          </a:p>
          <a:p>
            <a:pPr lvl="1"/>
            <a:r>
              <a:rPr lang="en-US" b="1" dirty="0"/>
              <a:t>Pop </a:t>
            </a:r>
          </a:p>
          <a:p>
            <a:pPr lvl="1"/>
            <a:r>
              <a:rPr lang="en-US" b="1" dirty="0"/>
              <a:t>Push 5</a:t>
            </a:r>
          </a:p>
          <a:p>
            <a:pPr lvl="1"/>
            <a:r>
              <a:rPr lang="en-US" b="1" dirty="0"/>
              <a:t>Change 3</a:t>
            </a:r>
            <a:r>
              <a:rPr lang="en-US" b="1" baseline="30000" dirty="0"/>
              <a:t>rd</a:t>
            </a:r>
            <a:r>
              <a:rPr lang="en-US" b="1" dirty="0"/>
              <a:t> element to 8</a:t>
            </a:r>
          </a:p>
          <a:p>
            <a:pPr lvl="1"/>
            <a:r>
              <a:rPr lang="en-US" b="1" dirty="0"/>
              <a:t>Push 6 &amp; 7</a:t>
            </a:r>
          </a:p>
          <a:p>
            <a:pPr lvl="1"/>
            <a:r>
              <a:rPr lang="en-US" b="1" dirty="0"/>
              <a:t>Traverse the stack</a:t>
            </a:r>
          </a:p>
        </p:txBody>
      </p:sp>
    </p:spTree>
    <p:extLst>
      <p:ext uri="{BB962C8B-B14F-4D97-AF65-F5344CB8AC3E}">
        <p14:creationId xmlns:p14="http://schemas.microsoft.com/office/powerpoint/2010/main" val="124601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8046" y="879566"/>
            <a:ext cx="5617028" cy="568669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of Stack using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#include&lt;stdio.h&gt;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int top=-1;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int N=3;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int  S[N] 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void push(int x)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if(top&gt;=N-1)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	</a:t>
            </a:r>
            <a:r>
              <a:rPr lang="en-US" sz="1400" b="1" dirty="0" err="1"/>
              <a:t>printf</a:t>
            </a:r>
            <a:r>
              <a:rPr lang="en-US" sz="1400" b="1" dirty="0"/>
              <a:t>(“Stack Overflow”);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	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top++;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S[top]=x;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void main(){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	push(10); push(20); push(30); push(40);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876144"/>
            <a:ext cx="5735933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Push(S, TOP, x)</a:t>
            </a:r>
          </a:p>
          <a:p>
            <a:endParaRPr lang="en-IN" sz="2200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[Check for stack overflow]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TOP ≥ N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2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 	write (‘STACK OVERFLOW’)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	Return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[Increment TOP]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TOP ← TOP + 1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[Insert Element]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S[TOP] ← X</a:t>
            </a:r>
          </a:p>
          <a:p>
            <a:r>
              <a:rPr lang="en-IN" sz="22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[Finished]</a:t>
            </a:r>
          </a:p>
          <a:p>
            <a:r>
              <a:rPr lang="en-IN" sz="22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	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521FF-CDD7-96D8-D5D9-4F59F12A217B}"/>
              </a:ext>
            </a:extLst>
          </p:cNvPr>
          <p:cNvSpPr txBox="1"/>
          <p:nvPr/>
        </p:nvSpPr>
        <p:spPr>
          <a:xfrm>
            <a:off x="2261962" y="2681874"/>
            <a:ext cx="271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 </a:t>
            </a:r>
            <a:r>
              <a:rPr lang="en-US" b="1" dirty="0">
                <a:solidFill>
                  <a:srgbClr val="C00000"/>
                </a:solidFill>
              </a:rPr>
              <a:t>Array starts from index : 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54DF4-EE04-13C8-A22E-9FEFC3D5007F}"/>
              </a:ext>
            </a:extLst>
          </p:cNvPr>
          <p:cNvSpPr txBox="1"/>
          <p:nvPr/>
        </p:nvSpPr>
        <p:spPr>
          <a:xfrm>
            <a:off x="9172931" y="1880964"/>
            <a:ext cx="2674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Array started from index :1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941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Conversion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Stack Application </a:t>
            </a:r>
          </a:p>
        </p:txBody>
      </p:sp>
    </p:spTree>
    <p:extLst>
      <p:ext uri="{BB962C8B-B14F-4D97-AF65-F5344CB8AC3E}">
        <p14:creationId xmlns:p14="http://schemas.microsoft.com/office/powerpoint/2010/main" val="87232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Rank of any Expression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DCDA3-87BC-CC56-5D42-0B20E3FF6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61325" y="849128"/>
            <a:ext cx="11819965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E = ( A + B * C / D - E + F / G / ( H + I )) 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61324" y="2108537"/>
            <a:ext cx="11819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R(A) + R(+) + R(B) + R(*) + R(C) + R (/) + R(D) + R(-) + R(E) + R(+) + R(F) + R(/) + R(G) 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570220" y="2513737"/>
            <a:ext cx="3411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+ R(/) + R(H) + R(+) + R(I)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61324" y="1428763"/>
            <a:ext cx="1181996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Note: R = </a:t>
            </a:r>
            <a:r>
              <a:rPr lang="en-IN" sz="2400" b="1" i="1" dirty="0">
                <a:solidFill>
                  <a:schemeClr val="bg1"/>
                </a:solidFill>
              </a:rPr>
              <a:t>Rank</a:t>
            </a:r>
            <a:r>
              <a:rPr lang="en-IN" sz="2400" b="1" dirty="0"/>
              <a:t>, Rank of Variable </a:t>
            </a:r>
            <a:r>
              <a:rPr lang="en-IN" sz="2400" b="1" i="1" dirty="0">
                <a:solidFill>
                  <a:schemeClr val="bg1"/>
                </a:solidFill>
              </a:rPr>
              <a:t>= 1</a:t>
            </a:r>
            <a:r>
              <a:rPr lang="en-IN" sz="2400" b="1" dirty="0"/>
              <a:t>, Rank of binary operators </a:t>
            </a:r>
            <a:r>
              <a:rPr lang="en-IN" sz="2400" b="1" i="1" dirty="0">
                <a:solidFill>
                  <a:schemeClr val="bg1"/>
                </a:solidFill>
              </a:rPr>
              <a:t>= -1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323" y="3169503"/>
            <a:ext cx="1181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+ 1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 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/>
              <a:t> + 1 + </a:t>
            </a:r>
            <a:r>
              <a:rPr lang="en-IN" sz="2400" b="1" dirty="0">
                <a:solidFill>
                  <a:srgbClr val="C00000"/>
                </a:solidFill>
              </a:rPr>
              <a:t>(-1)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+ 1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61323" y="3825269"/>
            <a:ext cx="11819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Rank (E) =</a:t>
            </a:r>
            <a:r>
              <a:rPr lang="en-IN" sz="2400" dirty="0"/>
              <a:t> 1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9806" y="4505284"/>
            <a:ext cx="876300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Any Expression is valid if Rank of that expression is 1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6137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Convert Infix to Postfix Expression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8771" y="826341"/>
          <a:ext cx="11694458" cy="4327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327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Input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(F)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Stack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(G)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Rank function (R)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-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5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: REVPOL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INFIX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containing an infix expression which has been padded on the right with </a:t>
            </a:r>
            <a:r>
              <a:rPr lang="en-IN" b="1" dirty="0">
                <a:solidFill>
                  <a:srgbClr val="C00000"/>
                </a:solidFill>
              </a:rPr>
              <a:t>‘)’</a:t>
            </a:r>
            <a:r>
              <a:rPr lang="en-IN" dirty="0"/>
              <a:t>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This algorithm </a:t>
            </a:r>
            <a:r>
              <a:rPr lang="en-IN" b="1" i="1" dirty="0">
                <a:solidFill>
                  <a:srgbClr val="C00000"/>
                </a:solidFill>
              </a:rPr>
              <a:t>converts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b="1" i="1" dirty="0">
                <a:solidFill>
                  <a:srgbClr val="C00000"/>
                </a:solidFill>
              </a:rPr>
              <a:t>INFIX into reverse polish</a:t>
            </a:r>
            <a:r>
              <a:rPr lang="en-IN" b="1" i="1" dirty="0"/>
              <a:t> </a:t>
            </a:r>
            <a:r>
              <a:rPr lang="en-IN" dirty="0"/>
              <a:t>and places the result in the string </a:t>
            </a:r>
            <a:r>
              <a:rPr lang="en-IN" b="1" dirty="0">
                <a:solidFill>
                  <a:srgbClr val="C00000"/>
                </a:solidFill>
              </a:rPr>
              <a:t>POLISH</a:t>
            </a:r>
            <a:r>
              <a:rPr lang="en-IN" dirty="0"/>
              <a:t>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All symbols have precedence value given by the table.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dirty="0"/>
              <a:t>The integer variable </a:t>
            </a:r>
            <a:r>
              <a:rPr lang="en-IN" b="1" dirty="0">
                <a:solidFill>
                  <a:srgbClr val="C00000"/>
                </a:solidFill>
              </a:rPr>
              <a:t>RANK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contains the rank of expression. </a:t>
            </a:r>
          </a:p>
          <a:p>
            <a:r>
              <a:rPr lang="en-IN" dirty="0"/>
              <a:t>The string variable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used for temporary storage purpose.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5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318" y="34605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1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S[TOP] ← ‘(’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318" y="973847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output string and rank count]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‘’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0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318" y="1913089"/>
            <a:ext cx="594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[Get first input symbol]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318" y="2575332"/>
            <a:ext cx="594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thru step 7 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	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NEXT != ‘ ‘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7318" y="34605"/>
            <a:ext cx="5940000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3538" indent="-363538"/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TOP &lt; 1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 EXIT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while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G(S[TOP]) &gt; F(NEXT)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TEMP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POLISH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RANK 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IF</a:t>
            </a:r>
            <a:r>
              <a:rPr lang="en-IN" b="1" dirty="0">
                <a:solidFill>
                  <a:schemeClr val="accent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RANK &lt;1</a:t>
            </a:r>
          </a:p>
          <a:p>
            <a:pPr marL="444500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444500"/>
            <a:r>
              <a:rPr lang="en-IN" dirty="0">
                <a:latin typeface="Consolas" pitchFamily="49" charset="0"/>
                <a:cs typeface="Consolas" pitchFamily="49" charset="0"/>
              </a:rPr>
              <a:t>	    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7318" y="3471768"/>
            <a:ext cx="5940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[Are there matching parentheses]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G(S[TOP]) != F(NEXT)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marL="363538"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7318" y="4692940"/>
            <a:ext cx="594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[Get next symbol]</a:t>
            </a:r>
          </a:p>
          <a:p>
            <a:pPr marL="363538"/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7318" y="5360115"/>
            <a:ext cx="5940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8. [Is the expression valid]</a:t>
            </a:r>
          </a:p>
          <a:p>
            <a:pPr lvl="1"/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  TOP != 0 OR RANK != 1</a:t>
            </a:r>
          </a:p>
          <a:p>
            <a:pPr lvl="1"/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write (‘INVALID‘)</a:t>
            </a:r>
          </a:p>
          <a:p>
            <a:pPr lvl="1"/>
            <a:r>
              <a:rPr lang="en-IN" b="1" dirty="0">
                <a:latin typeface="Consolas" pitchFamily="49" charset="0"/>
                <a:cs typeface="Consolas" pitchFamily="49" charset="0"/>
              </a:rPr>
              <a:t>Else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write (POLISH)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43318" y="3545306"/>
          <a:ext cx="5940000" cy="3015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IPF (F)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SPF (G)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RF (R)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70529" marR="70529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4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6098854" y="34833"/>
          <a:ext cx="5895922" cy="6553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01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8800" y="194713"/>
            <a:ext cx="4437744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66" name="Group 65"/>
          <p:cNvGrpSpPr/>
          <p:nvPr/>
        </p:nvGrpSpPr>
        <p:grpSpPr>
          <a:xfrm>
            <a:off x="129988" y="665202"/>
            <a:ext cx="689612" cy="682366"/>
            <a:chOff x="7277100" y="1350666"/>
            <a:chExt cx="689612" cy="682366"/>
          </a:xfrm>
        </p:grpSpPr>
        <p:cxnSp>
          <p:nvCxnSpPr>
            <p:cNvPr id="67" name="Straight Arrow Connector 66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29988" y="1606814"/>
            <a:ext cx="576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1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S[TOP] ← ‘(’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61271" y="65164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29988" y="2553779"/>
            <a:ext cx="576000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output string and rank count]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‘’</a:t>
            </a: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0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64899" y="6655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29988" y="3500744"/>
            <a:ext cx="576000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[Get first input symbol]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482" y="9743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257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2" grpId="0"/>
      <p:bldP spid="17" grpId="0" animBg="1"/>
      <p:bldP spid="18" grpId="0"/>
      <p:bldP spid="19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-67235" y="504708"/>
            <a:ext cx="689612" cy="682366"/>
            <a:chOff x="7277100" y="1350666"/>
            <a:chExt cx="689612" cy="682366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6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75683" y="338329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8"/>
            <a:ext cx="5760000" cy="21544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87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187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083 L -3.75E-6 0.5097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95 L -3.75E-6 0.5409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097 L -3.75E-6 0.6631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3.7037E-7 L 0.01523 0.0002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1.48148E-6 L 0.00052 0.66319 " pathEditMode="relative" rAng="0" ptsTypes="AA">
                                      <p:cBhvr>
                                        <p:cTn id="56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1.48148E-6 L 0.00065 0.1187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1875 L 0.00052 0.21852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22129 L 0.00065 0.50995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50879 L 0.00052 0.5421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514 L -3.75E-6 0.6618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79 3.7037E-7 L 0.03333 3.7037E-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96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1875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07 L -3.75E-6 0.2518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069 L -3.75E-6 0.2868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68 L -3.75E-6 0.31875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736 L -3.75E-6 0.35208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5208 L -3.75E-6 0.50903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path" presetSubtype="0" accel="50000" decel="5000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319 L -3.75E-6 0.54097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path" presetSubtype="0" accel="50000" decel="5000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305 L -3.75E-6 0.6618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07 0.00023 L 0.04974 0.00023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path" presetSubtype="0" accel="50000" decel="50000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163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path" presetSubtype="0" accel="50000" decel="5000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1111 L -3.75E-6 0.11875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path" presetSubtype="0" accel="50000" decel="5000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569 L -3.75E-6 0.22014 " pathEditMode="relative" rAng="0" ptsTypes="AA">
                                      <p:cBhvr>
                                        <p:cTn id="17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path" presetSubtype="0" accel="50000" decel="50000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153 L -3.75E-6 0.51042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path" presetSubtype="0" accel="50000" decel="50000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227 L -3.75E-6 0.54004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path" presetSubtype="0" accel="50000" decel="5000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861 L -3.75E-6 0.65972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65 0.00023 L 0.0664 0.00023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2" presetClass="path" presetSubtype="0" accel="50000" decel="5000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207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path" presetSubtype="0" accel="50000" decel="50000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path" presetSubtype="0" accel="50000" decel="50000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801 L -3.75E-6 0.22245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path" presetSubtype="0" accel="50000" decel="5000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25208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path" presetSubtype="0" accel="50000" decel="50000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231 L -3.75E-6 0.28542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path" presetSubtype="0" accel="50000" decel="50000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565 L -3.75E-6 0.31875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2" presetClass="path" presetSubtype="0" accel="50000" decel="5000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875 L -3.75E-6 0.35208 " pathEditMode="relative" rAng="0" ptsTypes="AA">
                                      <p:cBhvr>
                                        <p:cTn id="2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path" presetSubtype="0" accel="50000" decel="50000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544 L -3.75E-6 0.50995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path" presetSubtype="0" accel="50000" decel="50000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72 L -3.75E-6 0.53958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42" presetClass="path" presetSubtype="0" accel="50000" decel="5000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18 L -3.75E-6 0.6618 " pathEditMode="relative" rAng="0" ptsTypes="AA">
                                      <p:cBhvr>
                                        <p:cTn id="2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45 0.00023 L 0.08112 0.00023 " pathEditMode="relative" rAng="0" ptsTypes="AA">
                                      <p:cBhvr>
                                        <p:cTn id="2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2" presetClass="path" presetSubtype="0" accel="50000" decel="50000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274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42" presetClass="path" presetSubtype="0" accel="50000" decel="50000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2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42" presetClass="path" presetSubtype="0" accel="50000" decel="50000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129 L -3.75E-6 0.22222 " pathEditMode="relative" rAng="0" ptsTypes="AA">
                                      <p:cBhvr>
                                        <p:cTn id="28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2" presetClass="path" presetSubtype="0" accel="50000" decel="50000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77 L -3.75E-6 0.50995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42" presetClass="path" presetSubtype="0" accel="50000" decel="50000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764 L -3.75E-6 0.53866 " pathEditMode="relative" rAng="0" ptsTypes="AA">
                                      <p:cBhvr>
                                        <p:cTn id="29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42" presetClass="path" presetSubtype="0" accel="50000" decel="50000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097 L -3.75E-6 0.66134 " pathEditMode="relative" rAng="0" ptsTypes="AA">
                                      <p:cBhvr>
                                        <p:cTn id="30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47 0.00023 L 0.09713 0.00023 " pathEditMode="relative" rAng="0" ptsTypes="AA">
                                      <p:cBhvr>
                                        <p:cTn id="3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42" presetClass="path" presetSubtype="0" accel="50000" decel="5000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318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42" presetClass="path" presetSubtype="0" accel="50000" decel="50000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0231 L -3.75E-6 0.12106 " pathEditMode="relative" rAng="0" ptsTypes="AA">
                                      <p:cBhvr>
                                        <p:cTn id="3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42" presetClass="path" presetSubtype="0" accel="50000" decel="50000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2222 " pathEditMode="relative" rAng="0" ptsTypes="AA">
                                      <p:cBhvr>
                                        <p:cTn id="3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42" presetClass="path" presetSubtype="0" accel="50000" decel="50000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1875 L -3.75E-6 0.25208 " pathEditMode="relative" rAng="0" ptsTypes="AA">
                                      <p:cBhvr>
                                        <p:cTn id="3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42" presetClass="path" presetSubtype="0" accel="50000" decel="50000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185 L -3.75E-6 0.28518 " pathEditMode="relative" rAng="0" ptsTypes="AA">
                                      <p:cBhvr>
                                        <p:cTn id="3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42" presetClass="path" presetSubtype="0" accel="50000" decel="50000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8542 L -3.75E-6 0.31875 " pathEditMode="relative" rAng="0" ptsTypes="AA">
                                      <p:cBhvr>
                                        <p:cTn id="3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42" presetClass="path" presetSubtype="0" accel="50000" decel="50000" fill="hold" grpId="5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31875 L -3.75E-6 0.35208 " pathEditMode="relative" rAng="0" ptsTypes="AA">
                                      <p:cBhvr>
                                        <p:cTn id="3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42" presetClass="path" presetSubtype="0" accel="50000" decel="50000" fill="hold" grpId="5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1875 L -3.75E-6 0.34097 " pathEditMode="relative" rAng="0" ptsTypes="AA">
                                      <p:cBhvr>
                                        <p:cTn id="358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42" presetClass="path" presetSubtype="0" accel="50000" decel="50000" fill="hold" grpId="5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3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42" presetClass="path" presetSubtype="0" accel="50000" decel="50000" fill="hold" grpId="5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1389 L -3.75E-6 0.54167 " pathEditMode="relative" rAng="0" ptsTypes="AA">
                                      <p:cBhvr>
                                        <p:cTn id="3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42" presetClass="path" presetSubtype="0" accel="50000" decel="50000" fill="hold" grpId="5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4514 L -3.75E-6 0.6618 " pathEditMode="relative" rAng="0" ptsTypes="AA">
                                      <p:cBhvr>
                                        <p:cTn id="37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09 0.00023 L 0.11159 0.00023 " pathEditMode="relative" rAng="0" ptsTypes="AA">
                                      <p:cBhvr>
                                        <p:cTn id="38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42" presetClass="path" presetSubtype="0" accel="50000" decel="50000" fill="hold" grpId="5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6319 " pathEditMode="relative" rAng="0" ptsTypes="AA">
                                      <p:cBhvr>
                                        <p:cTn id="389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42" presetClass="path" presetSubtype="0" accel="50000" decel="50000" fill="hold" grpId="5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39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42" presetClass="path" presetSubtype="0" accel="50000" decel="50000" fill="hold" grpId="5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2708 L -3.75E-6 0.22153 " pathEditMode="relative" rAng="0" ptsTypes="AA">
                                      <p:cBhvr>
                                        <p:cTn id="39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42" presetClass="path" presetSubtype="0" accel="50000" decel="50000" fill="hold" grpId="5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40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42" presetClass="path" presetSubtype="0" accel="50000" decel="50000" fill="hold" grpId="5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972 L -3.75E-6 0.53958 " pathEditMode="relative" rAng="0" ptsTypes="AA">
                                      <p:cBhvr>
                                        <p:cTn id="40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42" presetClass="path" presetSubtype="0" accel="50000" decel="50000" fill="hold" grpId="6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833 L -3.75E-6 0.66042 " pathEditMode="relative" rAng="0" ptsTypes="AA">
                                      <p:cBhvr>
                                        <p:cTn id="42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76 0.00023 L 0.12643 0.00023 " pathEditMode="relative" rAng="0" ptsTypes="AA">
                                      <p:cBhvr>
                                        <p:cTn id="4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42" presetClass="path" presetSubtype="0" accel="50000" decel="50000" fill="hold" grpId="6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65208 " pathEditMode="relative" rAng="0" ptsTypes="AA">
                                      <p:cBhvr>
                                        <p:cTn id="433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42" presetClass="path" presetSubtype="0" accel="50000" decel="50000" fill="hold" grpId="6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3.75E-6 0.11875 " pathEditMode="relative" rAng="0" ptsTypes="AA">
                                      <p:cBhvr>
                                        <p:cTn id="4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42" presetClass="path" presetSubtype="0" accel="50000" decel="50000" fill="hold" grpId="6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11875 L -3.75E-6 0.22014 " pathEditMode="relative" rAng="0" ptsTypes="AA">
                                      <p:cBhvr>
                                        <p:cTn id="44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42" presetClass="path" presetSubtype="0" accel="50000" decel="5000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243 L -3.75E-6 0.50764 " pathEditMode="relative" rAng="0" ptsTypes="AA">
                                      <p:cBhvr>
                                        <p:cTn id="4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42" presetClass="path" presetSubtype="0" accel="50000" decel="50000" fill="hold" grpId="6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50764 L -3.75E-6 0.5743 " pathEditMode="relative" rAng="0" ptsTypes="AA">
                                      <p:cBhvr>
                                        <p:cTn id="46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2" grpId="0"/>
      <p:bldP spid="2" grpId="1"/>
      <p:bldP spid="8" grpId="0"/>
      <p:bldP spid="10" grpId="0"/>
      <p:bldP spid="12" grpId="0"/>
      <p:bldP spid="14" grpId="0"/>
      <p:bldP spid="15" grpId="0"/>
      <p:bldP spid="37" grpId="0"/>
      <p:bldP spid="38" grpId="0"/>
      <p:bldP spid="39" grpId="0"/>
      <p:bldP spid="40" grpId="0"/>
      <p:bldP spid="40" grpId="1"/>
      <p:bldP spid="41" grpId="0"/>
      <p:bldP spid="42" grpId="0"/>
      <p:bldP spid="20" grpId="0"/>
      <p:bldP spid="43" grpId="0"/>
      <p:bldP spid="44" grpId="0"/>
      <p:bldP spid="45" grpId="0"/>
      <p:bldP spid="46" grpId="0"/>
      <p:bldP spid="47" grpId="0"/>
      <p:bldP spid="48" grpId="0"/>
      <p:bldP spid="48" grpId="1"/>
      <p:bldP spid="49" grpId="0"/>
      <p:bldP spid="50" grpId="0"/>
      <p:bldP spid="51" grpId="0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1" grpId="48" animBg="1"/>
      <p:bldP spid="21" grpId="49" animBg="1"/>
      <p:bldP spid="21" grpId="50" animBg="1"/>
      <p:bldP spid="21" grpId="51" animBg="1"/>
      <p:bldP spid="21" grpId="52" animBg="1"/>
      <p:bldP spid="21" grpId="53" animBg="1"/>
      <p:bldP spid="21" grpId="54" animBg="1"/>
      <p:bldP spid="21" grpId="55" animBg="1"/>
      <p:bldP spid="21" grpId="56" animBg="1"/>
      <p:bldP spid="21" grpId="57" animBg="1"/>
      <p:bldP spid="21" grpId="58" animBg="1"/>
      <p:bldP spid="21" grpId="59" animBg="1"/>
      <p:bldP spid="21" grpId="60" animBg="1"/>
      <p:bldP spid="21" grpId="61" animBg="1"/>
      <p:bldP spid="21" grpId="62" animBg="1"/>
      <p:bldP spid="21" grpId="63" animBg="1"/>
      <p:bldP spid="21" grpId="64" animBg="1"/>
      <p:bldP spid="21" grpId="65" animBg="1"/>
      <p:bldP spid="8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439605" y="504087"/>
            <a:ext cx="689612" cy="682366"/>
            <a:chOff x="7277100" y="1350666"/>
            <a:chExt cx="689612" cy="682366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594600" y="1350666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277100" y="166370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75488" y="339768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48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01888 -0.003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0.00162 L 0.00117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11759 L 0.0002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0.00026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0046 L 0.00026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66296 L -2.70833E-6 -3.7037E-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3314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44444E-6 L -4.58333E-6 -3.7037E-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53" grpId="0"/>
      <p:bldP spid="54" grpId="0"/>
      <p:bldP spid="55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675044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752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117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11759 L 0.00117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1644 L -0.00078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-0.0026 0.5467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 0.54675 L -0.00078 0.6629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57" grpId="0"/>
      <p:bldP spid="58" grpId="0"/>
      <p:bldP spid="59" grpId="0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1827443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398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02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759 L -0.00078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644 L -0.00078 0.5004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0.00117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5449 L -0.00078 0.6629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61" grpId="0"/>
      <p:bldP spid="52" grpId="0"/>
      <p:bldP spid="86" grpId="0"/>
      <p:bldP spid="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015011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350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002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759 L 0.0002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117 0.2902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9028 L 0.00117 0.3226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9028 L 0.00026 0.216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21644 L -0.00078 0.5004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046 L 0.00026 0.5414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4143 L -0.0026 0.6629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65" grpId="0"/>
      <p:bldP spid="62" grpId="0"/>
      <p:bldP spid="63" grpId="0"/>
      <p:bldP spid="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226025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3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       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06117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907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-2.70833E-6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11759 L -2.70833E-6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1644 L 0.00183 0.5076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1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50764 L -2.70833E-6 0.5449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5449 L -2.70833E-6 0.6629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69" grpId="0"/>
      <p:bldP spid="66" grpId="0"/>
      <p:bldP spid="67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390147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27028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0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96296E-6 L 0.01224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091 0.1175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11759 L 0.00091 0.2164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1644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091 0.2902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9028 L 0.00091 0.3226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32269 L 0.00091 0.216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132 L 0.00091 0.5074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50741 L 0.00091 0.5430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54306 L 0.00091 0.6611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73" grpId="0"/>
      <p:bldP spid="70" grpId="0"/>
      <p:bldP spid="71" grpId="0"/>
      <p:bldP spid="7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530823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798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96296E-6 L 0.02174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222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11736 L -0.00078 0.2162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297 L -0.00078 0.5074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50741 L 0.00026 0.5414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4143 L 0.00026 0.6611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77" grpId="0"/>
      <p:bldP spid="74" grpId="0"/>
      <p:bldP spid="75" grpId="0"/>
      <p:bldP spid="7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718391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A1EC93-EBBC-5633-CD74-70B92C8158FA}"/>
              </a:ext>
            </a:extLst>
          </p:cNvPr>
          <p:cNvSpPr txBox="1"/>
          <p:nvPr/>
        </p:nvSpPr>
        <p:spPr>
          <a:xfrm>
            <a:off x="6451617" y="593638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F72DAD-7B46-DCDC-28DA-9171D342EC84}"/>
              </a:ext>
            </a:extLst>
          </p:cNvPr>
          <p:cNvSpPr txBox="1"/>
          <p:nvPr/>
        </p:nvSpPr>
        <p:spPr>
          <a:xfrm>
            <a:off x="9130546" y="5936683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endParaRPr 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6AD457-C55C-B28B-D1B5-A3C6F0F3D70F}"/>
              </a:ext>
            </a:extLst>
          </p:cNvPr>
          <p:cNvSpPr txBox="1"/>
          <p:nvPr/>
        </p:nvSpPr>
        <p:spPr>
          <a:xfrm>
            <a:off x="10955672" y="59366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632684-804E-B9EC-E4EA-D3556F1F73C1}"/>
              </a:ext>
            </a:extLst>
          </p:cNvPr>
          <p:cNvSpPr txBox="1"/>
          <p:nvPr/>
        </p:nvSpPr>
        <p:spPr>
          <a:xfrm>
            <a:off x="7809486" y="59018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76D3DD-CDBC-0DAB-9021-3DBD01319170}"/>
              </a:ext>
            </a:extLst>
          </p:cNvPr>
          <p:cNvSpPr txBox="1"/>
          <p:nvPr/>
        </p:nvSpPr>
        <p:spPr>
          <a:xfrm>
            <a:off x="9142270" y="5936684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A34383-E555-3197-1C17-FA1A2B407A58}"/>
              </a:ext>
            </a:extLst>
          </p:cNvPr>
          <p:cNvSpPr txBox="1"/>
          <p:nvPr/>
        </p:nvSpPr>
        <p:spPr>
          <a:xfrm>
            <a:off x="10967396" y="592496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0797BB-BD1C-6E25-6441-59232FA841FF}"/>
              </a:ext>
            </a:extLst>
          </p:cNvPr>
          <p:cNvSpPr txBox="1"/>
          <p:nvPr/>
        </p:nvSpPr>
        <p:spPr>
          <a:xfrm>
            <a:off x="7809487" y="591355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</a:t>
            </a:r>
            <a:endParaRPr 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7B9120A-654B-E0E4-0AA1-1ABA22A3FB4E}"/>
              </a:ext>
            </a:extLst>
          </p:cNvPr>
          <p:cNvSpPr txBox="1"/>
          <p:nvPr/>
        </p:nvSpPr>
        <p:spPr>
          <a:xfrm>
            <a:off x="7821211" y="590182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E9CCBA-8E24-F4E5-75E2-9579A85E0F89}"/>
              </a:ext>
            </a:extLst>
          </p:cNvPr>
          <p:cNvSpPr txBox="1"/>
          <p:nvPr/>
        </p:nvSpPr>
        <p:spPr>
          <a:xfrm>
            <a:off x="9142271" y="5936685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</a:t>
            </a:r>
            <a:endParaRPr lang="en-US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6432EE-4D1C-12C7-5F1A-2E6C46830390}"/>
              </a:ext>
            </a:extLst>
          </p:cNvPr>
          <p:cNvSpPr txBox="1"/>
          <p:nvPr/>
        </p:nvSpPr>
        <p:spPr>
          <a:xfrm>
            <a:off x="10955674" y="591323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7E9523A-9E6E-798B-E183-3B0B8B3F1244}"/>
              </a:ext>
            </a:extLst>
          </p:cNvPr>
          <p:cNvSpPr txBox="1"/>
          <p:nvPr/>
        </p:nvSpPr>
        <p:spPr>
          <a:xfrm>
            <a:off x="7821212" y="59018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556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-2.70833E-6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11574 L -0.00377 0.2145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1459 L -0.00377 0.254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84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172 L -0.00377 0.3215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" y="-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21459 L -0.00377 0.2544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17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843 L -0.00377 0.3215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21459 L 0.00183 0.25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544 L -0.00377 0.2817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8843 L -0.00377 0.3215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32153 L -0.00377 0.21459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21459 L 0.00508 0.51065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51065 L 0.00508 0.57709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5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8 0.57709 L 0.00404 0.66088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81" grpId="0"/>
      <p:bldP spid="83" grpId="0"/>
      <p:bldP spid="83" grpId="1"/>
      <p:bldP spid="84" grpId="0"/>
      <p:bldP spid="84" grpId="1"/>
      <p:bldP spid="78" grpId="0"/>
      <p:bldP spid="78" grpId="1"/>
      <p:bldP spid="79" grpId="0"/>
      <p:bldP spid="79" grpId="1"/>
      <p:bldP spid="80" grpId="0"/>
      <p:bldP spid="80" grpId="1"/>
      <p:bldP spid="91" grpId="0"/>
      <p:bldP spid="91" grpId="1"/>
      <p:bldP spid="92" grpId="0"/>
      <p:bldP spid="92" grpId="1"/>
      <p:bldP spid="93" grpId="0"/>
      <p:bldP spid="94" grpId="0"/>
      <p:bldP spid="9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8854" y="17932"/>
          <a:ext cx="5801792" cy="654887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0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b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Content of stack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Reverse polish expression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Rank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18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7084" marR="6708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8812" y="116422"/>
            <a:ext cx="5760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/>
              <a:t>( a + b ^ c ^ d ) * ( e + f / d ) )</a:t>
            </a:r>
            <a:endParaRPr lang="en-US" sz="22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2894236" y="524328"/>
            <a:ext cx="689612" cy="662160"/>
            <a:chOff x="7489093" y="1370907"/>
            <a:chExt cx="689612" cy="66216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7793893" y="1370907"/>
              <a:ext cx="0" cy="37653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489093" y="166373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NEXT</a:t>
              </a:r>
              <a:endParaRPr lang="en-US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54466" y="604529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14525" y="60452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465411" y="90086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88500" y="1125362"/>
            <a:ext cx="57600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[Translate the infix expression]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Repeat thru step 7 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	while NEXT!= ‘ ‘</a:t>
            </a:r>
            <a:endParaRPr 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12" y="1919187"/>
            <a:ext cx="57239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365125" indent="-365125"/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[Remove symbols with greater precedence from stack]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TOP &lt; 1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EXIT</a:t>
            </a:r>
          </a:p>
          <a:p>
            <a:pPr marL="1277938"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G(S[TOP]) &gt; F(NEXT)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 TOP)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POLISH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POLISH 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O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 TEMP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RANK </a:t>
            </a:r>
            <a:r>
              <a:rPr lang="en-IN" sz="15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RANK + R(TEMP)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	 RANK &lt;1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write (‘INVALID’)</a:t>
            </a:r>
          </a:p>
          <a:p>
            <a:pPr marL="1277938" lvl="2"/>
            <a:r>
              <a:rPr lang="en-IN" sz="1500" dirty="0">
                <a:latin typeface="Consolas" pitchFamily="49" charset="0"/>
                <a:cs typeface="Consolas" pitchFamily="49" charset="0"/>
              </a:rPr>
              <a:t>         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00" y="4812332"/>
            <a:ext cx="576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[Are there matching parentheses]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1500" b="1" dirty="0">
                <a:latin typeface="Consolas" pitchFamily="49" charset="0"/>
                <a:cs typeface="Consolas" pitchFamily="49" charset="0"/>
              </a:rPr>
              <a:t>   G(S[TOP]) != F(NEXT)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call PUSH (S,TOP, NEXT)</a:t>
            </a:r>
          </a:p>
          <a:p>
            <a:pPr lvl="2"/>
            <a:r>
              <a:rPr lang="en-IN" sz="15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15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1500" dirty="0">
                <a:latin typeface="Consolas" pitchFamily="49" charset="0"/>
                <a:cs typeface="Consolas" pitchFamily="49" charset="0"/>
              </a:rPr>
              <a:t>POP (S,TOP)</a:t>
            </a:r>
            <a:endParaRPr lang="en-US" sz="15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500" y="5883540"/>
            <a:ext cx="5760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7. [Get next symbol]</a:t>
            </a:r>
          </a:p>
          <a:p>
            <a:r>
              <a:rPr lang="en-IN" sz="1400" dirty="0">
                <a:latin typeface="Consolas" pitchFamily="49" charset="0"/>
                <a:cs typeface="Consolas" pitchFamily="49" charset="0"/>
              </a:rPr>
              <a:t>    	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 </a:t>
            </a:r>
            <a:r>
              <a:rPr lang="en-US" sz="1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NEXTCHAR(INFIX)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466" y="9323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914525" y="9177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465411" y="122010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754466" y="124550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((a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914525" y="122259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465411" y="15311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54466" y="1533463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130547" y="154292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0914525" y="15464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754466" y="152819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65411" y="185839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b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754466" y="184672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((+b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130547" y="1846841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0914525" y="186377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465411" y="221400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0547" y="214626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914525" y="21631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754466" y="2151530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465411" y="2447860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754466" y="247326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((+^c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9130547" y="246479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0914525" y="24679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65411" y="283206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^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754466" y="279184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9130547" y="27727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914525" y="28117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754466" y="279031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465411" y="31129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754466" y="311294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((+^^d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9130547" y="3077598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0904797" y="311488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6465411" y="340995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754466" y="33947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((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9130547" y="3404454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10914525" y="343914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7754466" y="340801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96708" y="1617840"/>
            <a:ext cx="5744725" cy="2406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5E1F6-526D-E6C3-0CEC-E3D47B437E14}"/>
              </a:ext>
            </a:extLst>
          </p:cNvPr>
          <p:cNvSpPr txBox="1"/>
          <p:nvPr/>
        </p:nvSpPr>
        <p:spPr>
          <a:xfrm>
            <a:off x="6457643" y="3771788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*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5DC7A-9107-9245-699E-9CA960BD0F58}"/>
              </a:ext>
            </a:extLst>
          </p:cNvPr>
          <p:cNvSpPr txBox="1"/>
          <p:nvPr/>
        </p:nvSpPr>
        <p:spPr>
          <a:xfrm>
            <a:off x="7775683" y="3715824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FC1EC6-A1A3-1237-F398-A078348F9690}"/>
              </a:ext>
            </a:extLst>
          </p:cNvPr>
          <p:cNvSpPr txBox="1"/>
          <p:nvPr/>
        </p:nvSpPr>
        <p:spPr>
          <a:xfrm>
            <a:off x="9130547" y="37291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FC38F6-7997-5315-DA36-E73AC16913E8}"/>
              </a:ext>
            </a:extLst>
          </p:cNvPr>
          <p:cNvSpPr txBox="1"/>
          <p:nvPr/>
        </p:nvSpPr>
        <p:spPr>
          <a:xfrm>
            <a:off x="10914525" y="375857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782D3A-EE36-9FB5-10CF-0C28281B7EF5}"/>
              </a:ext>
            </a:extLst>
          </p:cNvPr>
          <p:cNvSpPr txBox="1"/>
          <p:nvPr/>
        </p:nvSpPr>
        <p:spPr>
          <a:xfrm>
            <a:off x="6466885" y="403776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(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393CF-6C4A-C07A-004C-EB5448446C9A}"/>
              </a:ext>
            </a:extLst>
          </p:cNvPr>
          <p:cNvSpPr txBox="1"/>
          <p:nvPr/>
        </p:nvSpPr>
        <p:spPr>
          <a:xfrm>
            <a:off x="7775683" y="4048387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1E96E-0D6B-34A6-18F2-5986D3BFCC17}"/>
              </a:ext>
            </a:extLst>
          </p:cNvPr>
          <p:cNvSpPr txBox="1"/>
          <p:nvPr/>
        </p:nvSpPr>
        <p:spPr>
          <a:xfrm>
            <a:off x="9130547" y="4060077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0B15D-266C-019A-1B0E-2DE771487218}"/>
              </a:ext>
            </a:extLst>
          </p:cNvPr>
          <p:cNvSpPr txBox="1"/>
          <p:nvPr/>
        </p:nvSpPr>
        <p:spPr>
          <a:xfrm>
            <a:off x="10914525" y="406282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2670FE-1E00-756B-6C17-4A956720AD12}"/>
              </a:ext>
            </a:extLst>
          </p:cNvPr>
          <p:cNvSpPr txBox="1"/>
          <p:nvPr/>
        </p:nvSpPr>
        <p:spPr>
          <a:xfrm>
            <a:off x="6465411" y="4383414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</a:t>
            </a:r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7E545C-354D-24CF-BF38-B576DE2C9133}"/>
              </a:ext>
            </a:extLst>
          </p:cNvPr>
          <p:cNvSpPr txBox="1"/>
          <p:nvPr/>
        </p:nvSpPr>
        <p:spPr>
          <a:xfrm>
            <a:off x="6457643" y="467881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+</a:t>
            </a:r>
            <a:endParaRPr 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DD70B-1AC6-D060-21BB-37B49E7A090A}"/>
              </a:ext>
            </a:extLst>
          </p:cNvPr>
          <p:cNvSpPr txBox="1"/>
          <p:nvPr/>
        </p:nvSpPr>
        <p:spPr>
          <a:xfrm>
            <a:off x="6465411" y="496944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D8FC6E-3AE7-64BF-ACF8-47D4F8FB5A0D}"/>
              </a:ext>
            </a:extLst>
          </p:cNvPr>
          <p:cNvSpPr txBox="1"/>
          <p:nvPr/>
        </p:nvSpPr>
        <p:spPr>
          <a:xfrm>
            <a:off x="6451822" y="532681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/</a:t>
            </a:r>
            <a:endParaRPr lang="en-US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AF5EBF-F1E2-127C-D36F-1752162F8E81}"/>
              </a:ext>
            </a:extLst>
          </p:cNvPr>
          <p:cNvSpPr txBox="1"/>
          <p:nvPr/>
        </p:nvSpPr>
        <p:spPr>
          <a:xfrm>
            <a:off x="6438233" y="561455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A1EC93-EBBC-5633-CD74-70B92C8158FA}"/>
              </a:ext>
            </a:extLst>
          </p:cNvPr>
          <p:cNvSpPr txBox="1"/>
          <p:nvPr/>
        </p:nvSpPr>
        <p:spPr>
          <a:xfrm>
            <a:off x="6451617" y="593638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F72DAD-7B46-DCDC-28DA-9171D342EC84}"/>
              </a:ext>
            </a:extLst>
          </p:cNvPr>
          <p:cNvSpPr txBox="1"/>
          <p:nvPr/>
        </p:nvSpPr>
        <p:spPr>
          <a:xfrm>
            <a:off x="9130546" y="5936683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</a:t>
            </a:r>
            <a:endParaRPr lang="en-US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6AD457-C55C-B28B-D1B5-A3C6F0F3D70F}"/>
              </a:ext>
            </a:extLst>
          </p:cNvPr>
          <p:cNvSpPr txBox="1"/>
          <p:nvPr/>
        </p:nvSpPr>
        <p:spPr>
          <a:xfrm>
            <a:off x="10955672" y="59366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EBE0AC-A30E-3DCA-8744-18083E54F908}"/>
              </a:ext>
            </a:extLst>
          </p:cNvPr>
          <p:cNvSpPr txBox="1"/>
          <p:nvPr/>
        </p:nvSpPr>
        <p:spPr>
          <a:xfrm>
            <a:off x="6459129" y="6230821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BEE368-C81B-175E-E6AB-DFE4A10A6D1B}"/>
              </a:ext>
            </a:extLst>
          </p:cNvPr>
          <p:cNvSpPr txBox="1"/>
          <p:nvPr/>
        </p:nvSpPr>
        <p:spPr>
          <a:xfrm>
            <a:off x="9149777" y="6222247"/>
            <a:ext cx="14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efd</a:t>
            </a:r>
            <a:r>
              <a:rPr lang="en-IN" b="1" dirty="0"/>
              <a:t>/+*</a:t>
            </a:r>
            <a:endParaRPr 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5A5EF6-D115-0E4F-EB28-BAEF4AFB1350}"/>
              </a:ext>
            </a:extLst>
          </p:cNvPr>
          <p:cNvSpPr txBox="1"/>
          <p:nvPr/>
        </p:nvSpPr>
        <p:spPr>
          <a:xfrm>
            <a:off x="10930859" y="62044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622923-F510-CDEB-9E27-EEB844F45B09}"/>
              </a:ext>
            </a:extLst>
          </p:cNvPr>
          <p:cNvSpPr txBox="1"/>
          <p:nvPr/>
        </p:nvSpPr>
        <p:spPr>
          <a:xfrm>
            <a:off x="7826057" y="623497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B77CF-0321-7A49-D8CE-BE049E400184}"/>
              </a:ext>
            </a:extLst>
          </p:cNvPr>
          <p:cNvSpPr txBox="1"/>
          <p:nvPr/>
        </p:nvSpPr>
        <p:spPr>
          <a:xfrm>
            <a:off x="7775683" y="435936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(*(e   </a:t>
            </a:r>
            <a:endParaRPr lang="en-US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D80CFD-D3EF-005A-B1A4-2128063509D7}"/>
              </a:ext>
            </a:extLst>
          </p:cNvPr>
          <p:cNvSpPr txBox="1"/>
          <p:nvPr/>
        </p:nvSpPr>
        <p:spPr>
          <a:xfrm>
            <a:off x="9124177" y="435220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endParaRPr lang="en-US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6EE5AF-C92B-49CE-3507-7832CAE715F1}"/>
              </a:ext>
            </a:extLst>
          </p:cNvPr>
          <p:cNvSpPr txBox="1"/>
          <p:nvPr/>
        </p:nvSpPr>
        <p:spPr>
          <a:xfrm>
            <a:off x="10937972" y="43558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0E5044-A3F8-1C43-ED3F-409D69418B6E}"/>
              </a:ext>
            </a:extLst>
          </p:cNvPr>
          <p:cNvSpPr txBox="1"/>
          <p:nvPr/>
        </p:nvSpPr>
        <p:spPr>
          <a:xfrm>
            <a:off x="7799130" y="465080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 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57AA71-2E26-7A02-40C6-D133ADD09B1E}"/>
              </a:ext>
            </a:extLst>
          </p:cNvPr>
          <p:cNvSpPr txBox="1"/>
          <p:nvPr/>
        </p:nvSpPr>
        <p:spPr>
          <a:xfrm>
            <a:off x="9136813" y="46441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AC5B19-6850-D14D-BBEF-F9450920B51D}"/>
              </a:ext>
            </a:extLst>
          </p:cNvPr>
          <p:cNvSpPr txBox="1"/>
          <p:nvPr/>
        </p:nvSpPr>
        <p:spPr>
          <a:xfrm>
            <a:off x="10950608" y="46487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32A287-DFD2-E54A-3EB9-9EE323E6BF54}"/>
              </a:ext>
            </a:extLst>
          </p:cNvPr>
          <p:cNvSpPr txBox="1"/>
          <p:nvPr/>
        </p:nvSpPr>
        <p:spPr>
          <a:xfrm>
            <a:off x="7799130" y="496744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(*(+f 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2BA51-5CCB-AF06-9FF8-9D1547156DD7}"/>
              </a:ext>
            </a:extLst>
          </p:cNvPr>
          <p:cNvSpPr txBox="1"/>
          <p:nvPr/>
        </p:nvSpPr>
        <p:spPr>
          <a:xfrm>
            <a:off x="9124177" y="495978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^^+e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D412CB-1ECA-7127-4E0D-25AFDD15FF3E}"/>
              </a:ext>
            </a:extLst>
          </p:cNvPr>
          <p:cNvSpPr txBox="1"/>
          <p:nvPr/>
        </p:nvSpPr>
        <p:spPr>
          <a:xfrm>
            <a:off x="10950608" y="49772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8B542-19DB-3329-DB9E-FBF57AC37C74}"/>
              </a:ext>
            </a:extLst>
          </p:cNvPr>
          <p:cNvSpPr txBox="1"/>
          <p:nvPr/>
        </p:nvSpPr>
        <p:spPr>
          <a:xfrm>
            <a:off x="7786494" y="5308032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6D5E5-FDC0-65DA-FBA4-EB569AE672F7}"/>
              </a:ext>
            </a:extLst>
          </p:cNvPr>
          <p:cNvSpPr txBox="1"/>
          <p:nvPr/>
        </p:nvSpPr>
        <p:spPr>
          <a:xfrm>
            <a:off x="9110218" y="5275430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501297-689C-DFA2-3619-FEA3A0161AB3}"/>
              </a:ext>
            </a:extLst>
          </p:cNvPr>
          <p:cNvSpPr txBox="1"/>
          <p:nvPr/>
        </p:nvSpPr>
        <p:spPr>
          <a:xfrm>
            <a:off x="10950609" y="530545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7CCBBF-D9C6-3D32-C7AE-45CF54487D4D}"/>
              </a:ext>
            </a:extLst>
          </p:cNvPr>
          <p:cNvSpPr txBox="1"/>
          <p:nvPr/>
        </p:nvSpPr>
        <p:spPr>
          <a:xfrm>
            <a:off x="7799130" y="5600311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(*(+/d</a:t>
            </a:r>
            <a:endParaRPr lang="en-US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C5C906-5C14-ADAB-02CA-CB48A04F1D94}"/>
              </a:ext>
            </a:extLst>
          </p:cNvPr>
          <p:cNvSpPr txBox="1"/>
          <p:nvPr/>
        </p:nvSpPr>
        <p:spPr>
          <a:xfrm>
            <a:off x="9133665" y="5580229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abcd</a:t>
            </a:r>
            <a:r>
              <a:rPr lang="en-IN" b="1" dirty="0"/>
              <a:t>^^+</a:t>
            </a:r>
            <a:r>
              <a:rPr lang="en-IN" b="1" dirty="0" err="1"/>
              <a:t>ef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B25A0F-0917-7BDB-B89D-35D05998EADB}"/>
              </a:ext>
            </a:extLst>
          </p:cNvPr>
          <p:cNvSpPr txBox="1"/>
          <p:nvPr/>
        </p:nvSpPr>
        <p:spPr>
          <a:xfrm>
            <a:off x="10962333" y="56102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632684-804E-B9EC-E4EA-D3556F1F73C1}"/>
              </a:ext>
            </a:extLst>
          </p:cNvPr>
          <p:cNvSpPr txBox="1"/>
          <p:nvPr/>
        </p:nvSpPr>
        <p:spPr>
          <a:xfrm>
            <a:off x="7809486" y="5901826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(*</a:t>
            </a:r>
            <a:endParaRPr lang="en-US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25409DD-A0C8-A671-B88B-02729563D1C3}"/>
              </a:ext>
            </a:extLst>
          </p:cNvPr>
          <p:cNvSpPr txBox="1"/>
          <p:nvPr/>
        </p:nvSpPr>
        <p:spPr>
          <a:xfrm>
            <a:off x="7809490" y="6206628"/>
            <a:ext cx="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1124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01237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0.00026 0.1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11574 L -0.00078 0.2134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343 L -2.70833E-6 0.2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0.25 L 0.00117 0.2884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28843 L 0.00117 0.3226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32268 L -0.00078 0.2134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-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21343 L 0.00026 0.5106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51065 L -0.00169 0.57408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0.57408 L 0.00026 0.66088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66088 L -1.47451E-17 -2.22222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3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85" grpId="0"/>
      <p:bldP spid="87" grpId="0"/>
      <p:bldP spid="88" grpId="0"/>
      <p:bldP spid="96" grpId="0"/>
      <p:bldP spid="9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Infix to Postfix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7887" y="911811"/>
          <a:ext cx="9961474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79650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4986503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  <a:gridCol w="4195321">
                  <a:extLst>
                    <a:ext uri="{9D8B030D-6E8A-4147-A177-3AD203B41FA5}">
                      <a16:colId xmlns:a16="http://schemas.microsoft.com/office/drawing/2014/main" val="231202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Postfix Expression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* + d e / h * -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^ C D * - E F ^ G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+ C D * E F</a:t>
                      </a:r>
                      <a:r>
                        <a:rPr lang="en-US" sz="2400" b="0" baseline="0" dirty="0"/>
                        <a:t> G ^ ^ * -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2 3 * 2 1 - / 5 3 *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C D - * E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+ C * D B A C * + / + D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d ^ ^ + e f d / + *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 B C * D / + E - F G / H I + /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</a:t>
                      </a:r>
                      <a:r>
                        <a:rPr lang="en-US" sz="2400" b="0" baseline="0" dirty="0"/>
                        <a:t> b c * d e - / +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 B C * D E / F – G * - H *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967659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960256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970607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980953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991297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972066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00170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01662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00170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01651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2121766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7719" y="3268068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Infix to Postfix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6000" y="799511"/>
            <a:ext cx="9712973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Add ‘)’ to the end of the infix expression.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000" y="1376930"/>
            <a:ext cx="9712973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Push ‘(‘ on to the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0080" y="2528063"/>
            <a:ext cx="9338893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an </a:t>
            </a:r>
            <a:r>
              <a:rPr lang="en-US" sz="2000" b="1" dirty="0">
                <a:solidFill>
                  <a:srgbClr val="C00000"/>
                </a:solidFill>
              </a:rPr>
              <a:t>operand</a:t>
            </a:r>
            <a:r>
              <a:rPr lang="en-US" sz="2000" dirty="0"/>
              <a:t> (whether a number or a character) is encountered, add it to the postfix expression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00" y="2518636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0080" y="3286926"/>
            <a:ext cx="9338893" cy="402336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 left parenthesis ‘(’, is encountered, push it on the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80" y="3732468"/>
            <a:ext cx="9338893" cy="132343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 </a:t>
            </a:r>
            <a:r>
              <a:rPr lang="en-US" sz="2000" b="1" dirty="0">
                <a:solidFill>
                  <a:srgbClr val="C00000"/>
                </a:solidFill>
              </a:rPr>
              <a:t>right parenthesis ‘)’</a:t>
            </a:r>
            <a:r>
              <a:rPr lang="en-US" sz="2000" dirty="0"/>
              <a:t>, is encountered, then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Repeatedly</a:t>
            </a:r>
            <a:r>
              <a:rPr lang="en-US" sz="2000" b="1" dirty="0"/>
              <a:t> pop </a:t>
            </a:r>
            <a:r>
              <a:rPr lang="en-US" sz="2000" dirty="0"/>
              <a:t>from stack and add it to the postfix expression until a </a:t>
            </a:r>
            <a:r>
              <a:rPr lang="en-US" sz="2000" b="1" dirty="0"/>
              <a:t>‘(‘</a:t>
            </a:r>
            <a:r>
              <a:rPr lang="en-US" sz="2000" dirty="0"/>
              <a:t> is encountered.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Discard</a:t>
            </a:r>
            <a:r>
              <a:rPr lang="en-US" sz="2000" dirty="0"/>
              <a:t> the </a:t>
            </a:r>
            <a:r>
              <a:rPr lang="en-US" b="1" dirty="0"/>
              <a:t>‘ ( ‘.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307719" y="3704194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080" y="5066827"/>
            <a:ext cx="9338893" cy="1538883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an </a:t>
            </a:r>
            <a:r>
              <a:rPr lang="en-US" sz="2000" b="1" dirty="0">
                <a:solidFill>
                  <a:srgbClr val="C00000"/>
                </a:solidFill>
              </a:rPr>
              <a:t>operator O </a:t>
            </a:r>
            <a:r>
              <a:rPr lang="en-US" sz="2000" dirty="0"/>
              <a:t>, is encountered, then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Repeatedly pop </a:t>
            </a:r>
            <a:r>
              <a:rPr lang="en-US" dirty="0"/>
              <a:t>from the stack and add each operator (popped from the stack) to the postfix expression which has the </a:t>
            </a:r>
            <a:r>
              <a:rPr lang="en-US" b="1" dirty="0"/>
              <a:t>same or a higher precedence than O</a:t>
            </a:r>
            <a:r>
              <a:rPr lang="en-US" dirty="0"/>
              <a:t>.(</a:t>
            </a:r>
            <a:r>
              <a:rPr lang="en-US" b="1" dirty="0"/>
              <a:t>except ^ : </a:t>
            </a:r>
            <a:r>
              <a:rPr lang="en-US" dirty="0"/>
              <a:t>Only higher precedence operators)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Push the operator </a:t>
            </a:r>
            <a:r>
              <a:rPr lang="en-US" sz="2000" b="1" dirty="0"/>
              <a:t>O</a:t>
            </a:r>
            <a:r>
              <a:rPr lang="en-US" b="1" dirty="0"/>
              <a:t> </a:t>
            </a:r>
            <a:r>
              <a:rPr lang="en-US" dirty="0"/>
              <a:t>to the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7719" y="5049183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ABA08-0C5B-3F43-FF6B-1A59D959F202}"/>
              </a:ext>
            </a:extLst>
          </p:cNvPr>
          <p:cNvSpPr/>
          <p:nvPr/>
        </p:nvSpPr>
        <p:spPr>
          <a:xfrm>
            <a:off x="346995" y="1953535"/>
            <a:ext cx="9701978" cy="430887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Repeat until each character in the infix notation is scanned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9FE1C7-F66F-6B18-541A-43B7AFDBD382}"/>
              </a:ext>
            </a:extLst>
          </p:cNvPr>
          <p:cNvGraphicFramePr>
            <a:graphicFrameLocks noGrp="1"/>
          </p:cNvGraphicFramePr>
          <p:nvPr/>
        </p:nvGraphicFramePr>
        <p:xfrm>
          <a:off x="10379712" y="799511"/>
          <a:ext cx="1807027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07027">
                  <a:extLst>
                    <a:ext uri="{9D8B030D-6E8A-4147-A177-3AD203B41FA5}">
                      <a16:colId xmlns:a16="http://schemas.microsoft.com/office/drawing/2014/main" val="418790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9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^ ($ -sometimes)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*, / ,%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31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-,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6804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B338-3FEF-F432-A0C8-66DFD4F2173D}"/>
              </a:ext>
            </a:extLst>
          </p:cNvPr>
          <p:cNvCxnSpPr>
            <a:cxnSpLocks/>
          </p:cNvCxnSpPr>
          <p:nvPr/>
        </p:nvCxnSpPr>
        <p:spPr>
          <a:xfrm>
            <a:off x="11498282" y="1455352"/>
            <a:ext cx="0" cy="84697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B3AD35-9490-9891-F8A4-7741D3C3D613}"/>
              </a:ext>
            </a:extLst>
          </p:cNvPr>
          <p:cNvCxnSpPr>
            <a:cxnSpLocks/>
          </p:cNvCxnSpPr>
          <p:nvPr/>
        </p:nvCxnSpPr>
        <p:spPr>
          <a:xfrm flipV="1">
            <a:off x="11753657" y="1435896"/>
            <a:ext cx="0" cy="84697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5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5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/>
            <a:r>
              <a:rPr lang="pt-BR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Example : Infix to Postfix : a + b * c – d / 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 + b * c – d / e 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816747" y="1571835"/>
          <a:ext cx="7031113" cy="502397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7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338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</a:t>
                      </a:r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24471" marR="12447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FB64C7-0D84-1BB1-D1E9-0AD947E9F1C5}"/>
              </a:ext>
            </a:extLst>
          </p:cNvPr>
          <p:cNvSpPr txBox="1"/>
          <p:nvPr/>
        </p:nvSpPr>
        <p:spPr>
          <a:xfrm>
            <a:off x="2459993" y="2216579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3EC4D-D09B-7800-7888-3BF1E73088D3}"/>
              </a:ext>
            </a:extLst>
          </p:cNvPr>
          <p:cNvSpPr txBox="1"/>
          <p:nvPr/>
        </p:nvSpPr>
        <p:spPr>
          <a:xfrm>
            <a:off x="2459993" y="2604654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5A13E-1182-F344-CEAF-B30264628A50}"/>
              </a:ext>
            </a:extLst>
          </p:cNvPr>
          <p:cNvSpPr txBox="1"/>
          <p:nvPr/>
        </p:nvSpPr>
        <p:spPr>
          <a:xfrm>
            <a:off x="2459993" y="2973871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82AC18-6A11-AEF5-48B7-E2CD16D7BFCF}"/>
              </a:ext>
            </a:extLst>
          </p:cNvPr>
          <p:cNvSpPr txBox="1"/>
          <p:nvPr/>
        </p:nvSpPr>
        <p:spPr>
          <a:xfrm>
            <a:off x="2459993" y="3405234"/>
            <a:ext cx="52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C390F-11D6-1A0B-27E7-32983BA013DB}"/>
              </a:ext>
            </a:extLst>
          </p:cNvPr>
          <p:cNvSpPr txBox="1"/>
          <p:nvPr/>
        </p:nvSpPr>
        <p:spPr>
          <a:xfrm>
            <a:off x="2459993" y="378771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 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C03EB-C321-D801-2954-14876F573B68}"/>
              </a:ext>
            </a:extLst>
          </p:cNvPr>
          <p:cNvSpPr txBox="1"/>
          <p:nvPr/>
        </p:nvSpPr>
        <p:spPr>
          <a:xfrm>
            <a:off x="2459993" y="418521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+ 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93EA1-DEA9-7113-E501-A6EBBA99614B}"/>
              </a:ext>
            </a:extLst>
          </p:cNvPr>
          <p:cNvSpPr txBox="1"/>
          <p:nvPr/>
        </p:nvSpPr>
        <p:spPr>
          <a:xfrm>
            <a:off x="2459993" y="457328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643BF-7532-DA6C-7820-0D07752E7A76}"/>
              </a:ext>
            </a:extLst>
          </p:cNvPr>
          <p:cNvSpPr txBox="1"/>
          <p:nvPr/>
        </p:nvSpPr>
        <p:spPr>
          <a:xfrm>
            <a:off x="2459993" y="501791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912274-260A-7F60-6958-5A7A1288D2E2}"/>
              </a:ext>
            </a:extLst>
          </p:cNvPr>
          <p:cNvSpPr txBox="1"/>
          <p:nvPr/>
        </p:nvSpPr>
        <p:spPr>
          <a:xfrm>
            <a:off x="2459993" y="5424843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 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9F680-E10E-9B28-4C62-A7371145E286}"/>
              </a:ext>
            </a:extLst>
          </p:cNvPr>
          <p:cNvSpPr txBox="1"/>
          <p:nvPr/>
        </p:nvSpPr>
        <p:spPr>
          <a:xfrm>
            <a:off x="2459993" y="5803490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- 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736478-1E75-9085-04CD-4A6CB2BB993D}"/>
              </a:ext>
            </a:extLst>
          </p:cNvPr>
          <p:cNvSpPr txBox="1"/>
          <p:nvPr/>
        </p:nvSpPr>
        <p:spPr>
          <a:xfrm>
            <a:off x="2459993" y="617270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DE73C-5A53-5BCE-D3D6-06A32E06AC2D}"/>
              </a:ext>
            </a:extLst>
          </p:cNvPr>
          <p:cNvSpPr txBox="1"/>
          <p:nvPr/>
        </p:nvSpPr>
        <p:spPr>
          <a:xfrm>
            <a:off x="3970751" y="2189947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CE067-D87B-16D5-F070-9FEDECB5C405}"/>
              </a:ext>
            </a:extLst>
          </p:cNvPr>
          <p:cNvSpPr txBox="1"/>
          <p:nvPr/>
        </p:nvSpPr>
        <p:spPr>
          <a:xfrm>
            <a:off x="4068409" y="2634578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B5642-12DD-AA2A-0DE6-55BEE93D5898}"/>
              </a:ext>
            </a:extLst>
          </p:cNvPr>
          <p:cNvSpPr txBox="1"/>
          <p:nvPr/>
        </p:nvSpPr>
        <p:spPr>
          <a:xfrm>
            <a:off x="4068409" y="2994365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92BB5B-C41F-F6A7-3A61-3B39BB5195E8}"/>
              </a:ext>
            </a:extLst>
          </p:cNvPr>
          <p:cNvSpPr txBox="1"/>
          <p:nvPr/>
        </p:nvSpPr>
        <p:spPr>
          <a:xfrm>
            <a:off x="4069726" y="338970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7D74D9-CCD7-A5A8-039E-6AEECB520779}"/>
              </a:ext>
            </a:extLst>
          </p:cNvPr>
          <p:cNvSpPr txBox="1"/>
          <p:nvPr/>
        </p:nvSpPr>
        <p:spPr>
          <a:xfrm>
            <a:off x="4069726" y="3777189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06F5C-54C6-D5FA-AF03-C0A305D44090}"/>
              </a:ext>
            </a:extLst>
          </p:cNvPr>
          <p:cNvSpPr txBox="1"/>
          <p:nvPr/>
        </p:nvSpPr>
        <p:spPr>
          <a:xfrm>
            <a:off x="4069726" y="4186856"/>
            <a:ext cx="7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35250-80F1-2268-E608-A4B34FB35987}"/>
              </a:ext>
            </a:extLst>
          </p:cNvPr>
          <p:cNvSpPr txBox="1"/>
          <p:nvPr/>
        </p:nvSpPr>
        <p:spPr>
          <a:xfrm>
            <a:off x="4069726" y="4574931"/>
            <a:ext cx="102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1EB50-804F-1ADC-AFBF-AB2CC167EE5A}"/>
              </a:ext>
            </a:extLst>
          </p:cNvPr>
          <p:cNvSpPr txBox="1"/>
          <p:nvPr/>
        </p:nvSpPr>
        <p:spPr>
          <a:xfrm>
            <a:off x="4069726" y="4981856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E9C03-C525-7FF9-5A10-29440823882E}"/>
              </a:ext>
            </a:extLst>
          </p:cNvPr>
          <p:cNvSpPr txBox="1"/>
          <p:nvPr/>
        </p:nvSpPr>
        <p:spPr>
          <a:xfrm>
            <a:off x="4069726" y="538878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2B616C-30AA-B0D2-D60C-EE2E86ECB139}"/>
              </a:ext>
            </a:extLst>
          </p:cNvPr>
          <p:cNvSpPr txBox="1"/>
          <p:nvPr/>
        </p:nvSpPr>
        <p:spPr>
          <a:xfrm>
            <a:off x="4069726" y="577685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ED0A74-A35B-B51C-03E0-9D87A0ACAF83}"/>
              </a:ext>
            </a:extLst>
          </p:cNvPr>
          <p:cNvSpPr txBox="1"/>
          <p:nvPr/>
        </p:nvSpPr>
        <p:spPr>
          <a:xfrm>
            <a:off x="4069726" y="6146067"/>
            <a:ext cx="156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b c * + d e / 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E0988-A194-2881-6500-0ED691F2E220}"/>
              </a:ext>
            </a:extLst>
          </p:cNvPr>
          <p:cNvSpPr txBox="1"/>
          <p:nvPr/>
        </p:nvSpPr>
        <p:spPr>
          <a:xfrm>
            <a:off x="954077" y="2653064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76BB0-ADA5-C888-3B88-77FD4D2D5A24}"/>
              </a:ext>
            </a:extLst>
          </p:cNvPr>
          <p:cNvSpPr txBox="1"/>
          <p:nvPr/>
        </p:nvSpPr>
        <p:spPr>
          <a:xfrm>
            <a:off x="980707" y="303054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A8AD1C-1CC6-DF95-5DE3-B526A70B8D54}"/>
              </a:ext>
            </a:extLst>
          </p:cNvPr>
          <p:cNvSpPr txBox="1"/>
          <p:nvPr/>
        </p:nvSpPr>
        <p:spPr>
          <a:xfrm>
            <a:off x="982187" y="3413760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0DFE1-AA37-1D06-D2F7-AA5405F491BA}"/>
              </a:ext>
            </a:extLst>
          </p:cNvPr>
          <p:cNvSpPr txBox="1"/>
          <p:nvPr/>
        </p:nvSpPr>
        <p:spPr>
          <a:xfrm>
            <a:off x="980707" y="3829716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71B0B5-2530-0CA7-EA1A-99900611370F}"/>
              </a:ext>
            </a:extLst>
          </p:cNvPr>
          <p:cNvSpPr txBox="1"/>
          <p:nvPr/>
        </p:nvSpPr>
        <p:spPr>
          <a:xfrm>
            <a:off x="998867" y="4238416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AC02E4-F4AD-9BCC-8CEF-573A963653DB}"/>
              </a:ext>
            </a:extLst>
          </p:cNvPr>
          <p:cNvSpPr txBox="1"/>
          <p:nvPr/>
        </p:nvSpPr>
        <p:spPr>
          <a:xfrm>
            <a:off x="998867" y="4631363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7E9FD-96D2-E23C-96D9-6BD32A4FE795}"/>
              </a:ext>
            </a:extLst>
          </p:cNvPr>
          <p:cNvSpPr txBox="1"/>
          <p:nvPr/>
        </p:nvSpPr>
        <p:spPr>
          <a:xfrm>
            <a:off x="998867" y="5038364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73DB61-24C7-B3C7-C6F0-1415B4C2B114}"/>
              </a:ext>
            </a:extLst>
          </p:cNvPr>
          <p:cNvSpPr txBox="1"/>
          <p:nvPr/>
        </p:nvSpPr>
        <p:spPr>
          <a:xfrm>
            <a:off x="998867" y="5385584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0D00EE-9DC0-E2A7-9C76-E5713E6A6E77}"/>
              </a:ext>
            </a:extLst>
          </p:cNvPr>
          <p:cNvSpPr txBox="1"/>
          <p:nvPr/>
        </p:nvSpPr>
        <p:spPr>
          <a:xfrm>
            <a:off x="980707" y="5804075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348A74-66A7-E52E-FB1B-241845A7F795}"/>
              </a:ext>
            </a:extLst>
          </p:cNvPr>
          <p:cNvSpPr txBox="1"/>
          <p:nvPr/>
        </p:nvSpPr>
        <p:spPr>
          <a:xfrm>
            <a:off x="1000128" y="6194737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FD892D-0A01-A815-30E2-A81F480534D4}"/>
              </a:ext>
            </a:extLst>
          </p:cNvPr>
          <p:cNvSpPr txBox="1"/>
          <p:nvPr/>
        </p:nvSpPr>
        <p:spPr>
          <a:xfrm>
            <a:off x="2136290" y="834618"/>
            <a:ext cx="11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2400" b="1" dirty="0"/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1A147B-9F71-3911-D88B-D6395F37C001}"/>
              </a:ext>
            </a:extLst>
          </p:cNvPr>
          <p:cNvSpPr txBox="1"/>
          <p:nvPr/>
        </p:nvSpPr>
        <p:spPr>
          <a:xfrm>
            <a:off x="954077" y="1590714"/>
            <a:ext cx="1178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Character Scanned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EC139-01DB-11C8-96A0-0D2BFC7093FE}"/>
              </a:ext>
            </a:extLst>
          </p:cNvPr>
          <p:cNvSpPr txBox="1"/>
          <p:nvPr/>
        </p:nvSpPr>
        <p:spPr>
          <a:xfrm>
            <a:off x="2313840" y="1592188"/>
            <a:ext cx="117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Stack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994D0F-4B24-100C-77C9-DCB1FC4555BD}"/>
              </a:ext>
            </a:extLst>
          </p:cNvPr>
          <p:cNvSpPr txBox="1"/>
          <p:nvPr/>
        </p:nvSpPr>
        <p:spPr>
          <a:xfrm>
            <a:off x="3906660" y="1593876"/>
            <a:ext cx="19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b="1" dirty="0"/>
              <a:t>Postfix Expression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7D0CCB3-5026-E8E1-AD9E-4BD56AE9EBA4}"/>
              </a:ext>
            </a:extLst>
          </p:cNvPr>
          <p:cNvGraphicFramePr>
            <a:graphicFrameLocks noGrp="1"/>
          </p:cNvGraphicFramePr>
          <p:nvPr/>
        </p:nvGraphicFramePr>
        <p:xfrm>
          <a:off x="10289218" y="932681"/>
          <a:ext cx="1566782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66782">
                  <a:extLst>
                    <a:ext uri="{9D8B030D-6E8A-4147-A177-3AD203B41FA5}">
                      <a16:colId xmlns:a16="http://schemas.microsoft.com/office/drawing/2014/main" val="418790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9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^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*, </a:t>
                      </a:r>
                      <a:r>
                        <a:rPr lang="en-US" b="1"/>
                        <a:t>/ 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31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-,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6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76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" grpId="0"/>
      <p:bldP spid="1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2" grpId="0"/>
      <p:bldP spid="43" grpId="0"/>
      <p:bldP spid="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29978" y="1822305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Infix to Prefix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856" y="951238"/>
            <a:ext cx="11160000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Reverse the infix expression. </a:t>
            </a:r>
          </a:p>
          <a:p>
            <a:r>
              <a:rPr lang="en-US" sz="2000" dirty="0"/>
              <a:t>Note : while reversing </a:t>
            </a:r>
            <a:r>
              <a:rPr lang="en-US" sz="2000" b="1" dirty="0"/>
              <a:t>each ‘(‘ will become ‘)’ </a:t>
            </a:r>
            <a:r>
              <a:rPr lang="en-US" sz="2000" dirty="0"/>
              <a:t>and each </a:t>
            </a:r>
            <a:r>
              <a:rPr lang="en-US" sz="2000" b="1" dirty="0"/>
              <a:t>‘)’ becomes ‘(‘</a:t>
            </a:r>
            <a:r>
              <a:rPr lang="en-US"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856" y="951240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856" y="1813971"/>
            <a:ext cx="11160000" cy="163121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Convert the reversed infix expression to </a:t>
            </a:r>
            <a:r>
              <a:rPr lang="en-US" sz="2000" b="1" dirty="0"/>
              <a:t>“nearly” postfix </a:t>
            </a:r>
            <a:r>
              <a:rPr lang="en-US" sz="2000" dirty="0"/>
              <a:t>expression.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While converting, </a:t>
            </a:r>
            <a:r>
              <a:rPr lang="en-US" sz="2000" b="1" dirty="0"/>
              <a:t>instead of popping operators with greater than or equal precedence</a:t>
            </a:r>
            <a:r>
              <a:rPr lang="en-US" sz="2000" dirty="0"/>
              <a:t>, here we will </a:t>
            </a:r>
            <a:r>
              <a:rPr lang="en-US" sz="2000" b="1" dirty="0"/>
              <a:t>only pop the operators from stack that have greater precedence</a:t>
            </a:r>
            <a:r>
              <a:rPr lang="en-US" sz="2000" dirty="0"/>
              <a:t>. (</a:t>
            </a:r>
            <a:r>
              <a:rPr lang="en-US" sz="2000" b="1" dirty="0"/>
              <a:t>except ^ : same or higher </a:t>
            </a:r>
            <a:r>
              <a:rPr lang="en-US" sz="2000" dirty="0"/>
              <a:t>precedence operators)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Push the operator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856" y="3514753"/>
            <a:ext cx="11160000" cy="40011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Reverse the postfix expression.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856" y="3514759"/>
            <a:ext cx="36000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0020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Convert Infix to Prefix Expression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8771" y="826341"/>
          <a:ext cx="11694458" cy="42700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5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2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327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Input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(F)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Stack precedence</a:t>
                      </a:r>
                      <a:b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function (G)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Rank function (R)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/>
                          <a:ea typeface="Calibri"/>
                          <a:cs typeface="Shruti"/>
                        </a:rPr>
                        <a:t>2</a:t>
                      </a: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*, /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Variables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3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-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23564" marR="123564" marT="0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05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Infix to Prefix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69A1A0-0107-6EA8-7043-8E880963A5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7887" y="911811"/>
          <a:ext cx="9830844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9426">
                  <a:extLst>
                    <a:ext uri="{9D8B030D-6E8A-4147-A177-3AD203B41FA5}">
                      <a16:colId xmlns:a16="http://schemas.microsoft.com/office/drawing/2014/main" val="85069131"/>
                    </a:ext>
                  </a:extLst>
                </a:gridCol>
                <a:gridCol w="4921112">
                  <a:extLst>
                    <a:ext uri="{9D8B030D-6E8A-4147-A177-3AD203B41FA5}">
                      <a16:colId xmlns:a16="http://schemas.microsoft.com/office/drawing/2014/main" val="1046304600"/>
                    </a:ext>
                  </a:extLst>
                </a:gridCol>
                <a:gridCol w="4140306">
                  <a:extLst>
                    <a:ext uri="{9D8B030D-6E8A-4147-A177-3AD203B41FA5}">
                      <a16:colId xmlns:a16="http://schemas.microsoft.com/office/drawing/2014/main" val="2312024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Prefix Expressions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633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 + a * b c * / d e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53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- ^ A</a:t>
                      </a:r>
                      <a:r>
                        <a:rPr lang="en-US" sz="2400" b="0" baseline="0" dirty="0"/>
                        <a:t> B * C D / ^ E F G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87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- + A B * * C D ^  E ^ F 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729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</a:t>
                      </a:r>
                      <a:r>
                        <a:rPr lang="en-US" sz="2400" b="0" baseline="0" dirty="0"/>
                        <a:t> / * 2 3 – 2  1 * 5 3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682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/>
                        <a:t>+ A / * B – C D E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32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+ * + A</a:t>
                      </a:r>
                      <a:r>
                        <a:rPr lang="en-US" sz="2400" b="0" baseline="0" dirty="0"/>
                        <a:t> B C / D + B * A C D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30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* + </a:t>
                      </a:r>
                      <a:r>
                        <a:rPr lang="en-US" sz="2400" b="0" baseline="0" dirty="0"/>
                        <a:t>a ^ b ^ c d + e / f d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5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+ - + A /</a:t>
                      </a:r>
                      <a:r>
                        <a:rPr lang="en-US" sz="2400" b="0" baseline="0" dirty="0"/>
                        <a:t> * B C D E / / F G + H I</a:t>
                      </a:r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a / * b c – d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772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+ A * - * B C * - / D E F G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08565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0087BA3-0609-F817-1042-34495FDB4C2E}"/>
              </a:ext>
            </a:extLst>
          </p:cNvPr>
          <p:cNvSpPr txBox="1"/>
          <p:nvPr/>
        </p:nvSpPr>
        <p:spPr>
          <a:xfrm>
            <a:off x="967659" y="137603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* c – d / e * h </a:t>
            </a:r>
            <a:endParaRPr lang="en-US" sz="2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60317-AEA7-6456-44E5-210C582F2EBB}"/>
              </a:ext>
            </a:extLst>
          </p:cNvPr>
          <p:cNvSpPr txBox="1"/>
          <p:nvPr/>
        </p:nvSpPr>
        <p:spPr>
          <a:xfrm>
            <a:off x="960256" y="1807480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^ B – C * D + E ^ F / G</a:t>
            </a:r>
            <a:endParaRPr lang="en-US" sz="2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99EFA-9F0F-A1D0-A3DC-84B01671109D}"/>
              </a:ext>
            </a:extLst>
          </p:cNvPr>
          <p:cNvSpPr txBox="1"/>
          <p:nvPr/>
        </p:nvSpPr>
        <p:spPr>
          <a:xfrm>
            <a:off x="970607" y="2316302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B – C * D * E ^ F ^ G</a:t>
            </a:r>
            <a:endParaRPr lang="en-US" sz="24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66BDF-6F2A-C043-2A16-C4AB1C0DFC87}"/>
              </a:ext>
            </a:extLst>
          </p:cNvPr>
          <p:cNvSpPr txBox="1"/>
          <p:nvPr/>
        </p:nvSpPr>
        <p:spPr>
          <a:xfrm>
            <a:off x="980953" y="2777967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2 * 3 / (2 – 1) + 5 * 3</a:t>
            </a:r>
            <a:endParaRPr lang="en-US" sz="2400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5E167-2730-18F0-037F-D4B4B7285F2A}"/>
              </a:ext>
            </a:extLst>
          </p:cNvPr>
          <p:cNvSpPr txBox="1"/>
          <p:nvPr/>
        </p:nvSpPr>
        <p:spPr>
          <a:xfrm>
            <a:off x="991297" y="3195579"/>
            <a:ext cx="3835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dirty="0"/>
              <a:t>A + (B * (C – D) / E)</a:t>
            </a:r>
            <a:endParaRPr lang="en-US" sz="2400" b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2445E-5181-19F7-7897-656BF5D7DCAB}"/>
              </a:ext>
            </a:extLst>
          </p:cNvPr>
          <p:cNvSpPr txBox="1"/>
          <p:nvPr/>
        </p:nvSpPr>
        <p:spPr>
          <a:xfrm>
            <a:off x="972066" y="360543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( A + B ) * C + D / ( B + A * C ) +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713438-5685-80AC-B773-30380ABE42FF}"/>
              </a:ext>
            </a:extLst>
          </p:cNvPr>
          <p:cNvSpPr txBox="1"/>
          <p:nvPr/>
        </p:nvSpPr>
        <p:spPr>
          <a:xfrm>
            <a:off x="1000170" y="4102702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dirty="0"/>
              <a:t>((a+b^c^d)*(e+f/d))</a:t>
            </a:r>
            <a:endParaRPr lang="en-US" sz="2400" b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4AED96-87A1-A088-0580-F1B411E98571}"/>
              </a:ext>
            </a:extLst>
          </p:cNvPr>
          <p:cNvSpPr txBox="1"/>
          <p:nvPr/>
        </p:nvSpPr>
        <p:spPr>
          <a:xfrm>
            <a:off x="1001662" y="455440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( A + B * C / D - E + F / G / ( H + I 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19267-BFBC-DD8F-9477-507B56B4F934}"/>
              </a:ext>
            </a:extLst>
          </p:cNvPr>
          <p:cNvSpPr txBox="1"/>
          <p:nvPr/>
        </p:nvSpPr>
        <p:spPr>
          <a:xfrm>
            <a:off x="1000170" y="4998370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((b * c) / (d – e))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FF4BF-37BA-CE8F-00C2-F72F60918FD9}"/>
              </a:ext>
            </a:extLst>
          </p:cNvPr>
          <p:cNvSpPr txBox="1"/>
          <p:nvPr/>
        </p:nvSpPr>
        <p:spPr>
          <a:xfrm>
            <a:off x="1001651" y="5470367"/>
            <a:ext cx="4788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/>
              <a:t> A + ( B * C – (D / E – F) * G) * H</a:t>
            </a:r>
          </a:p>
        </p:txBody>
      </p:sp>
    </p:spTree>
    <p:extLst>
      <p:ext uri="{BB962C8B-B14F-4D97-AF65-F5344CB8AC3E}">
        <p14:creationId xmlns:p14="http://schemas.microsoft.com/office/powerpoint/2010/main" val="1239246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Evaluation of Postfix Expression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</a:t>
            </a:r>
            <a:r>
              <a:rPr lang="en-IN" b="1" dirty="0">
                <a:solidFill>
                  <a:srgbClr val="C00000"/>
                </a:solidFill>
              </a:rPr>
              <a:t>operator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 </a:t>
            </a:r>
            <a:r>
              <a:rPr lang="en-IN" b="1" dirty="0"/>
              <a:t>postfix </a:t>
            </a:r>
            <a:r>
              <a:rPr lang="en-IN" dirty="0"/>
              <a:t>string </a:t>
            </a:r>
            <a:r>
              <a:rPr lang="en-IN" b="1" dirty="0"/>
              <a:t>refers</a:t>
            </a:r>
            <a:r>
              <a:rPr lang="en-IN" dirty="0"/>
              <a:t> to the </a:t>
            </a:r>
            <a:r>
              <a:rPr lang="en-IN" i="1" dirty="0">
                <a:solidFill>
                  <a:srgbClr val="C00000"/>
                </a:solidFill>
              </a:rPr>
              <a:t>previous two operands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in the string.</a:t>
            </a:r>
          </a:p>
          <a:p>
            <a:r>
              <a:rPr lang="en-IN" dirty="0"/>
              <a:t>Each time we </a:t>
            </a:r>
            <a:r>
              <a:rPr lang="en-IN" b="1" dirty="0"/>
              <a:t>read</a:t>
            </a:r>
            <a:r>
              <a:rPr lang="en-IN" dirty="0"/>
              <a:t> an </a:t>
            </a:r>
            <a:r>
              <a:rPr lang="en-IN" b="1" dirty="0"/>
              <a:t>operand</a:t>
            </a:r>
            <a:r>
              <a:rPr lang="en-IN" dirty="0"/>
              <a:t>, we </a:t>
            </a:r>
            <a:r>
              <a:rPr lang="en-IN" b="1" dirty="0"/>
              <a:t>PUSH</a:t>
            </a:r>
            <a:r>
              <a:rPr lang="en-IN" dirty="0"/>
              <a:t> it onto </a:t>
            </a:r>
            <a:r>
              <a:rPr lang="en-IN" b="1" dirty="0"/>
              <a:t>Stack</a:t>
            </a:r>
            <a:r>
              <a:rPr lang="en-IN" dirty="0"/>
              <a:t>.</a:t>
            </a:r>
          </a:p>
          <a:p>
            <a:r>
              <a:rPr lang="en-IN" dirty="0"/>
              <a:t>When we reach an </a:t>
            </a:r>
            <a:r>
              <a:rPr lang="en-IN" b="1" dirty="0"/>
              <a:t>operator</a:t>
            </a:r>
            <a:r>
              <a:rPr lang="en-IN" dirty="0"/>
              <a:t>, its </a:t>
            </a:r>
            <a:r>
              <a:rPr lang="en-IN" b="1" dirty="0"/>
              <a:t>operands</a:t>
            </a:r>
            <a:r>
              <a:rPr lang="en-IN" dirty="0"/>
              <a:t> will be </a:t>
            </a:r>
            <a:r>
              <a:rPr lang="en-IN" b="1" dirty="0"/>
              <a:t>top two elements</a:t>
            </a:r>
            <a:r>
              <a:rPr lang="en-IN" dirty="0"/>
              <a:t> on the stack.</a:t>
            </a:r>
          </a:p>
          <a:p>
            <a:r>
              <a:rPr lang="en-IN" dirty="0"/>
              <a:t>We can then </a:t>
            </a:r>
            <a:r>
              <a:rPr lang="en-IN" b="1" dirty="0"/>
              <a:t>POP</a:t>
            </a:r>
            <a:r>
              <a:rPr lang="en-IN" dirty="0"/>
              <a:t> these two elements, perform the indicated operation on them and PUSH the result on the stack so that it will available for use as an operand for the next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1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Evaluation of Postfix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00" y="803562"/>
            <a:ext cx="115200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Evaluate Expression: 5 6 2 - +</a:t>
            </a:r>
            <a:endParaRPr lang="en-US" sz="2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25058"/>
              </p:ext>
            </p:extLst>
          </p:nvPr>
        </p:nvGraphicFramePr>
        <p:xfrm>
          <a:off x="1814943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33943" y="1485787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Empty Stack</a:t>
            </a:r>
            <a:endParaRPr lang="en-US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09080"/>
              </p:ext>
            </p:extLst>
          </p:nvPr>
        </p:nvGraphicFramePr>
        <p:xfrm>
          <a:off x="5486400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774008" y="3121672"/>
            <a:ext cx="248379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67000" y="189668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5, is it operand? PUSH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0" y="2941558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5</a:t>
            </a:r>
            <a:endParaRPr lang="en-US" sz="28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667000" y="229422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6, is it operand? PUSH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486400" y="257827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6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667000" y="269177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Read 2, is it operand? PUSH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486400" y="2204876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2</a:t>
            </a:r>
            <a:endParaRPr lang="en-US" sz="2800" b="1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35975"/>
              </p:ext>
            </p:extLst>
          </p:nvPr>
        </p:nvGraphicFramePr>
        <p:xfrm>
          <a:off x="9220200" y="1896684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6355408" y="2667000"/>
            <a:ext cx="248379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3932" y="1529485"/>
            <a:ext cx="279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Read </a:t>
            </a:r>
            <a:r>
              <a:rPr lang="en-IN" sz="2800" b="1" dirty="0">
                <a:solidFill>
                  <a:srgbClr val="FF0000"/>
                </a:solidFill>
              </a:rPr>
              <a:t>–</a:t>
            </a:r>
            <a:r>
              <a:rPr lang="en-IN" b="1" dirty="0"/>
              <a:t> , is it operator? POP two symbols and perform operation and PUSH result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324600" y="3126501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1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902104" y="3124890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2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444904" y="2935070"/>
            <a:ext cx="46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–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10472" y="295246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5</a:t>
            </a:r>
            <a:endParaRPr lang="en-US" sz="2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9210472" y="2579449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4</a:t>
            </a:r>
            <a:endParaRPr lang="en-US" sz="2800" b="1"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85200"/>
              </p:ext>
            </p:extLst>
          </p:nvPr>
        </p:nvGraphicFramePr>
        <p:xfrm>
          <a:off x="5486400" y="4024745"/>
          <a:ext cx="685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9" name="Straight Connector 28"/>
          <p:cNvCxnSpPr/>
          <p:nvPr/>
        </p:nvCxnSpPr>
        <p:spPr>
          <a:xfrm>
            <a:off x="9553372" y="3581400"/>
            <a:ext cx="0" cy="1219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705600" y="4800600"/>
            <a:ext cx="28477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3958" y="3699161"/>
            <a:ext cx="3037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Read </a:t>
            </a:r>
            <a:r>
              <a:rPr lang="en-IN" sz="2800" b="1" dirty="0">
                <a:solidFill>
                  <a:srgbClr val="FF0000"/>
                </a:solidFill>
              </a:rPr>
              <a:t>+</a:t>
            </a:r>
            <a:r>
              <a:rPr lang="en-IN" b="1" dirty="0"/>
              <a:t> , is it operator? POP two symbols and perform operation and PUSH result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6827192" y="5336301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1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8404696" y="5334690"/>
            <a:ext cx="11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Operand 2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7947496" y="5144870"/>
            <a:ext cx="461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</a:rPr>
              <a:t>+</a:t>
            </a:r>
            <a:endParaRPr lang="en-US" sz="4000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3048000" y="5105400"/>
            <a:ext cx="22098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752600" y="4191001"/>
            <a:ext cx="914400" cy="819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TextBox 38"/>
          <p:cNvSpPr txBox="1"/>
          <p:nvPr/>
        </p:nvSpPr>
        <p:spPr>
          <a:xfrm>
            <a:off x="2836358" y="4061972"/>
            <a:ext cx="2527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Read next symbol, if it is end of string, POP answer from Stack</a:t>
            </a:r>
            <a:endParaRPr lang="en-US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716741" y="5105400"/>
            <a:ext cx="102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Answer</a:t>
            </a:r>
            <a:endParaRPr lang="en-US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5486400" y="5097297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9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443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25047 L -3.33333E-6 -0.0004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9583 L -3.33333E-6 -0.0013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2362 L -3.33333E-6 4.44444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0.2112 0.0694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7 L 0.08191 0.0162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15833 L 5E-6 1.11111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05794 0.33611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4" y="1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48148E-6 L -0.18138 0.28171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76" y="1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2544 L 8.33333E-7 -0.0044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0.0044 L -0.29609 -0.1125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5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2" grpId="0"/>
      <p:bldP spid="14" grpId="0"/>
      <p:bldP spid="14" grpId="1"/>
      <p:bldP spid="15" grpId="0"/>
      <p:bldP spid="16" grpId="0"/>
      <p:bldP spid="16" grpId="1"/>
      <p:bldP spid="16" grpId="2"/>
      <p:bldP spid="17" grpId="0"/>
      <p:bldP spid="18" grpId="0"/>
      <p:bldP spid="18" grpId="1"/>
      <p:bldP spid="18" grpId="2"/>
      <p:bldP spid="21" grpId="0"/>
      <p:bldP spid="22" grpId="0"/>
      <p:bldP spid="23" grpId="0"/>
      <p:bldP spid="24" grpId="0"/>
      <p:bldP spid="25" grpId="0"/>
      <p:bldP spid="25" grpId="1"/>
      <p:bldP spid="26" grpId="0"/>
      <p:bldP spid="26" grpId="1"/>
      <p:bldP spid="26" grpId="2"/>
      <p:bldP spid="32" grpId="0"/>
      <p:bldP spid="33" grpId="0"/>
      <p:bldP spid="34" grpId="0"/>
      <p:bldP spid="35" grpId="0"/>
      <p:bldP spid="41" grpId="0" animBg="1"/>
      <p:bldP spid="39" grpId="0"/>
      <p:bldP spid="42" grpId="0"/>
      <p:bldP spid="36" grpId="0" build="allAtOnce"/>
      <p:bldP spid="36" grpId="1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POSTFIX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representing postfix expression. </a:t>
            </a:r>
          </a:p>
          <a:p>
            <a:r>
              <a:rPr lang="en-IN" dirty="0"/>
              <a:t>This algorithm evaluates postfix expression and put the result into variable </a:t>
            </a:r>
            <a:r>
              <a:rPr lang="en-IN" b="1" dirty="0">
                <a:solidFill>
                  <a:srgbClr val="C00000"/>
                </a:solidFill>
              </a:rPr>
              <a:t>VALUE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b="1" dirty="0">
                <a:solidFill>
                  <a:srgbClr val="C00000"/>
                </a:solidFill>
              </a:rPr>
              <a:t>OPERAND1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OPERAND2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used for temporary variables.</a:t>
            </a:r>
          </a:p>
          <a:p>
            <a:r>
              <a:rPr lang="en-IN" b="1" dirty="0">
                <a:solidFill>
                  <a:srgbClr val="C00000"/>
                </a:solidFill>
              </a:rPr>
              <a:t>PERFORM_OPERATION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a function which performs required operation on </a:t>
            </a:r>
            <a:r>
              <a:rPr lang="en-IN" b="1" dirty="0"/>
              <a:t>OPERAND1</a:t>
            </a:r>
            <a:r>
              <a:rPr lang="en-IN" dirty="0"/>
              <a:t> &amp; </a:t>
            </a:r>
            <a:r>
              <a:rPr lang="en-IN" b="1" dirty="0"/>
              <a:t>OPERAND2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EVALUATE_POSTFIX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6000" y="804648"/>
            <a:ext cx="1152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00" y="1886761"/>
            <a:ext cx="1152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[Evaluate the postfix expression]</a:t>
            </a:r>
          </a:p>
          <a:p>
            <a:pPr marL="450850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 until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last character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TEMP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NEXTCHAR (POSTFIX)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TEMP is DIGIT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PUSH (S, TOP, TEMP)</a:t>
            </a:r>
          </a:p>
          <a:p>
            <a:pPr marL="900113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OPERAND2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OPERAND1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PERFORM_OPERATION(OPERAND1, OPERAND2, TEMP)</a:t>
            </a:r>
          </a:p>
          <a:p>
            <a:pPr marL="900113"/>
            <a:r>
              <a:rPr lang="en-IN" sz="2000" dirty="0">
                <a:latin typeface="Consolas" pitchFamily="49" charset="0"/>
                <a:cs typeface="Consolas" pitchFamily="49" charset="0"/>
              </a:rPr>
              <a:t>     PUSH (S, TOP,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00" y="4827114"/>
            <a:ext cx="115200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answer from stack]    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Return (POP (S, TOP))</a:t>
            </a:r>
          </a:p>
        </p:txBody>
      </p:sp>
    </p:spTree>
    <p:extLst>
      <p:ext uri="{BB962C8B-B14F-4D97-AF65-F5344CB8AC3E}">
        <p14:creationId xmlns:p14="http://schemas.microsoft.com/office/powerpoint/2010/main" val="24445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Postfix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00" y="851649"/>
            <a:ext cx="115200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dirty="0"/>
              <a:t>Evaluate Expression: 5 4 6 + * 4 9 3 / + *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6000" y="1456784"/>
            <a:ext cx="115200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dirty="0"/>
              <a:t>Evaluate Expression:  7 5 2 + * 4 1 1 + / -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6000" y="2066384"/>
            <a:ext cx="115200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dirty="0"/>
              <a:t>Evaluate Expression:  12, 7, 3, -, /, 2, 1, 5, +, *, +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5370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EVALUATE_PREFIX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an input string </a:t>
            </a:r>
            <a:r>
              <a:rPr lang="en-IN" b="1" dirty="0">
                <a:solidFill>
                  <a:srgbClr val="C00000"/>
                </a:solidFill>
              </a:rPr>
              <a:t>PREFIX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representing prefix expression. </a:t>
            </a:r>
          </a:p>
          <a:p>
            <a:r>
              <a:rPr lang="en-IN" dirty="0"/>
              <a:t>This algorithm evaluates prefix expression and put the result into variable </a:t>
            </a:r>
            <a:r>
              <a:rPr lang="en-IN" b="1" dirty="0">
                <a:solidFill>
                  <a:srgbClr val="C00000"/>
                </a:solidFill>
              </a:rPr>
              <a:t>VALUE</a:t>
            </a:r>
            <a:r>
              <a:rPr lang="en-IN" dirty="0"/>
              <a:t>. </a:t>
            </a:r>
          </a:p>
          <a:p>
            <a:r>
              <a:rPr lang="en-IN" dirty="0"/>
              <a:t>Stack is represented by a vector </a:t>
            </a:r>
            <a:r>
              <a:rPr lang="en-IN" b="1" dirty="0">
                <a:solidFill>
                  <a:srgbClr val="C00000"/>
                </a:solidFill>
              </a:rPr>
              <a:t>S, TOP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denotes the top of the stack, Algorithm </a:t>
            </a:r>
            <a:r>
              <a:rPr lang="en-IN" b="1" dirty="0">
                <a:solidFill>
                  <a:srgbClr val="C00000"/>
                </a:solidFill>
              </a:rPr>
              <a:t>PUSH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POP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dirty="0"/>
              <a:t>are used for stack manipulation.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Function </a:t>
            </a:r>
            <a:r>
              <a:rPr lang="en-IN" b="1" dirty="0">
                <a:solidFill>
                  <a:srgbClr val="C00000"/>
                </a:solidFill>
              </a:rPr>
              <a:t>NEXTCHAR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returns the next symbol in given input string.</a:t>
            </a:r>
          </a:p>
          <a:p>
            <a:r>
              <a:rPr lang="en-IN" b="1" dirty="0">
                <a:solidFill>
                  <a:srgbClr val="C00000"/>
                </a:solidFill>
              </a:rPr>
              <a:t>OPERAND1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OPERAND2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TEMP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used for temporary variables.</a:t>
            </a:r>
          </a:p>
          <a:p>
            <a:r>
              <a:rPr lang="en-IN" b="1" dirty="0">
                <a:solidFill>
                  <a:srgbClr val="C00000"/>
                </a:solidFill>
              </a:rPr>
              <a:t>PERFORM_OPERATION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a function which performs required operation on </a:t>
            </a:r>
            <a:r>
              <a:rPr lang="en-IN" b="1" dirty="0"/>
              <a:t>OPERAND1</a:t>
            </a:r>
            <a:r>
              <a:rPr lang="en-IN" dirty="0"/>
              <a:t> &amp; </a:t>
            </a:r>
            <a:r>
              <a:rPr lang="en-IN" b="1" dirty="0"/>
              <a:t>OPERAND2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1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EVALUATE_PREFIX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6000" y="818720"/>
            <a:ext cx="1152000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 Stack]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TOP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00" y="1900833"/>
            <a:ext cx="115200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[Evaluate the prefix expression]</a:t>
            </a:r>
          </a:p>
          <a:p>
            <a:pPr lvl="1"/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Repeat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from last character up to first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TEMP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NEXTCHAR (PREFIX)</a:t>
            </a:r>
          </a:p>
          <a:p>
            <a:pPr lvl="1"/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  TEMP is DIGIT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PUSH (S, TOP, TEMP)</a:t>
            </a:r>
          </a:p>
          <a:p>
            <a:pPr lvl="1"/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OPERAND1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OPERAND2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POP (S, TOP)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VALUE </a:t>
            </a:r>
            <a:r>
              <a:rPr lang="en-US" sz="2000" dirty="0">
                <a:latin typeface="Consolas" pitchFamily="49" charset="0"/>
                <a:cs typeface="Consolas" pitchFamily="49" charset="0"/>
                <a:sym typeface="Wingdings"/>
              </a:rPr>
              <a:t>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PERFORM_OPERATION(OPERAND1, OPERAND2, TEMP)</a:t>
            </a:r>
          </a:p>
          <a:p>
            <a:pPr lvl="1"/>
            <a:r>
              <a:rPr lang="en-IN" sz="2000" dirty="0">
                <a:latin typeface="Consolas" pitchFamily="49" charset="0"/>
                <a:cs typeface="Consolas" pitchFamily="49" charset="0"/>
              </a:rPr>
              <a:t>         PUSH (S, TOP,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000" y="4841186"/>
            <a:ext cx="115200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[Return answer from stack]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en-IN" sz="2000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Return (POP (S, TOP))</a:t>
            </a:r>
          </a:p>
        </p:txBody>
      </p:sp>
    </p:spTree>
    <p:extLst>
      <p:ext uri="{BB962C8B-B14F-4D97-AF65-F5344CB8AC3E}">
        <p14:creationId xmlns:p14="http://schemas.microsoft.com/office/powerpoint/2010/main" val="321273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recursive function </a:t>
            </a:r>
            <a:r>
              <a:rPr lang="en-US" dirty="0"/>
              <a:t>is defined as a </a:t>
            </a:r>
            <a:r>
              <a:rPr lang="en-US" b="1" dirty="0">
                <a:solidFill>
                  <a:srgbClr val="C00000"/>
                </a:solidFill>
              </a:rPr>
              <a:t>function that calls itself </a:t>
            </a:r>
            <a:r>
              <a:rPr lang="en-US" dirty="0"/>
              <a:t>to solve a smaller version of its task </a:t>
            </a:r>
            <a:r>
              <a:rPr lang="en-US" b="1" dirty="0">
                <a:solidFill>
                  <a:srgbClr val="C00000"/>
                </a:solidFill>
              </a:rPr>
              <a:t>until a final call is made </a:t>
            </a:r>
            <a:r>
              <a:rPr lang="en-US" dirty="0"/>
              <a:t>which </a:t>
            </a:r>
            <a:r>
              <a:rPr lang="en-US" b="1" dirty="0">
                <a:solidFill>
                  <a:srgbClr val="C00000"/>
                </a:solidFill>
              </a:rPr>
              <a:t>does not require a call to itself</a:t>
            </a:r>
            <a:r>
              <a:rPr lang="en-US" dirty="0"/>
              <a:t>.</a:t>
            </a:r>
          </a:p>
          <a:p>
            <a:r>
              <a:rPr lang="en-US" dirty="0"/>
              <a:t>Every recursive solution has two major cases: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Base case : </a:t>
            </a:r>
          </a:p>
          <a:p>
            <a:pPr lvl="2"/>
            <a:r>
              <a:rPr lang="en-US" dirty="0"/>
              <a:t>The problem is simple enough to be solved directly without making any further calls to the same function.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Recursive case :</a:t>
            </a:r>
          </a:p>
          <a:p>
            <a:pPr lvl="2"/>
            <a:r>
              <a:rPr lang="en-US" dirty="0"/>
              <a:t>First the problem is divided into simpler sub-parts. </a:t>
            </a:r>
          </a:p>
          <a:p>
            <a:pPr lvl="2"/>
            <a:r>
              <a:rPr lang="en-US" dirty="0"/>
              <a:t>Second the function calls itself but with sub-parts of the problem obtained in the first step. </a:t>
            </a:r>
          </a:p>
          <a:p>
            <a:pPr lvl="2"/>
            <a:r>
              <a:rPr lang="en-US" dirty="0"/>
              <a:t>Third, the result is obtained by combining the solutions of simpler sub-parts.</a:t>
            </a:r>
          </a:p>
        </p:txBody>
      </p:sp>
    </p:spTree>
    <p:extLst>
      <p:ext uri="{BB962C8B-B14F-4D97-AF65-F5344CB8AC3E}">
        <p14:creationId xmlns:p14="http://schemas.microsoft.com/office/powerpoint/2010/main" val="652520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#2305CS201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58" y="5211251"/>
            <a:ext cx="1395663" cy="1353599"/>
          </a:xfrm>
        </p:spPr>
      </p:pic>
    </p:spTree>
    <p:extLst>
      <p:ext uri="{BB962C8B-B14F-4D97-AF65-F5344CB8AC3E}">
        <p14:creationId xmlns:p14="http://schemas.microsoft.com/office/powerpoint/2010/main" val="237758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4423</TotalTime>
  <Words>5038</Words>
  <Application>Microsoft Office PowerPoint</Application>
  <PresentationFormat>Widescreen</PresentationFormat>
  <Paragraphs>1406</Paragraphs>
  <Slides>41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Open Sans Semibold</vt:lpstr>
      <vt:lpstr>Times New Roman</vt:lpstr>
      <vt:lpstr>Wingdings</vt:lpstr>
      <vt:lpstr>Open Sans</vt:lpstr>
      <vt:lpstr>Calibri</vt:lpstr>
      <vt:lpstr>Consolas</vt:lpstr>
      <vt:lpstr>Arial</vt:lpstr>
      <vt:lpstr>Wingdings 3</vt:lpstr>
      <vt:lpstr>Shruti</vt:lpstr>
      <vt:lpstr>Roboto Condensed</vt:lpstr>
      <vt:lpstr>Segoe UI Black</vt:lpstr>
      <vt:lpstr>Roboto Condensed Light</vt:lpstr>
      <vt:lpstr>Office Theme</vt:lpstr>
      <vt:lpstr>Unit-2  Linear Data Structure Stack</vt:lpstr>
      <vt:lpstr>Stack</vt:lpstr>
      <vt:lpstr>Stack Cont…</vt:lpstr>
      <vt:lpstr>Applications of Stack</vt:lpstr>
      <vt:lpstr>Procedure : PUSH (S, TOP, X)</vt:lpstr>
      <vt:lpstr>Function : POP (S, TOP)</vt:lpstr>
      <vt:lpstr>Function : PEEP (S, TOP, I)</vt:lpstr>
      <vt:lpstr>PROCEDURE : CHANGE (S, TOP, X, I)</vt:lpstr>
      <vt:lpstr>Perform following operations</vt:lpstr>
      <vt:lpstr>Programming of Stack using an Array</vt:lpstr>
      <vt:lpstr>Infix to Postfix Conversion</vt:lpstr>
      <vt:lpstr>Finding Rank of any Expression</vt:lpstr>
      <vt:lpstr>Convert Infix to Postfix Expression</vt:lpstr>
      <vt:lpstr>Algorithm : REVPOL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: Infix to Postfix</vt:lpstr>
      <vt:lpstr>General Infix to Postfix Conversion</vt:lpstr>
      <vt:lpstr>Example : Infix to Postfix : a + b * c – d / e </vt:lpstr>
      <vt:lpstr>General Infix to Prefix Conversion</vt:lpstr>
      <vt:lpstr>Convert Infix to Prefix Expression</vt:lpstr>
      <vt:lpstr>Exercise : Infix to Prefix</vt:lpstr>
      <vt:lpstr> Evaluation of Postfix Expression</vt:lpstr>
      <vt:lpstr> Evaluation of Postfix Expression</vt:lpstr>
      <vt:lpstr>Algorithm: EVALUATE_POSTFIX</vt:lpstr>
      <vt:lpstr>Algorithm: EVALUATE_POSTFIX</vt:lpstr>
      <vt:lpstr>Evaluation of Postfix Expression</vt:lpstr>
      <vt:lpstr>Algorithm: EVALUATE_PREFIX</vt:lpstr>
      <vt:lpstr>Algorithm: EVALUATE_PREFIX</vt:lpstr>
      <vt:lpstr>Recursion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- Linear Data Structure</dc:title>
  <dc:creator>ADMIN</dc:creator>
  <cp:keywords>Stack, Data Structure, Darshan Institute of Engineering &amp; Technology, DIET</cp:keywords>
  <cp:lastModifiedBy>DELL</cp:lastModifiedBy>
  <cp:revision>375</cp:revision>
  <dcterms:created xsi:type="dcterms:W3CDTF">2020-05-01T05:09:15Z</dcterms:created>
  <dcterms:modified xsi:type="dcterms:W3CDTF">2025-12-31T07:13:24Z</dcterms:modified>
</cp:coreProperties>
</file>